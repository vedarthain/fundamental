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EQUITY INTELLIGENCE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EquityRoots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Peer-relative scoring and daily signal scanners for the Indian equity market — insight-first, split-safe, and rebuilt weekly.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2,132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5285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STOCKS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4572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5285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CLUSTERS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4572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5285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SCANNERS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4572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yr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869680" y="5285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Final-state platform review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shipped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product areas — from single-stock research to whole-universe rotation.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67128"/>
            <a:ext cx="50292" cy="156362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00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daily signal tabs under one tabbed roof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83864" y="214884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167128"/>
            <a:ext cx="50292" cy="156362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23500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detail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66744" y="29260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Valuation / Momentum pillars + narrative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7648" y="214884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2167128"/>
            <a:ext cx="50292" cy="156362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3500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0528" y="29260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universe — P/E, ROE, composite score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71432" y="214884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1432" y="2167128"/>
            <a:ext cx="50292" cy="156362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9" name="Text 17"/>
          <p:cNvSpPr/>
          <p:nvPr/>
        </p:nvSpPr>
        <p:spPr>
          <a:xfrm>
            <a:off x="9354312" y="23500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dashboard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54312" y="29260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Indices, FII/DII flows, price levels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041648"/>
            <a:ext cx="50292" cy="156362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245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Sectors &amp; Indices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+ Nifty 50/100/200/500 constituents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83864" y="402336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3864" y="4041648"/>
            <a:ext cx="50292" cy="156362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27" name="Text 25"/>
          <p:cNvSpPr/>
          <p:nvPr/>
        </p:nvSpPr>
        <p:spPr>
          <a:xfrm>
            <a:off x="3666744" y="42245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Watchlist &amp; Portfolio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66744" y="480060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tracker, equity curve vs NIFTY 500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27648" y="402336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7648" y="4041648"/>
            <a:ext cx="50292" cy="156362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42245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feed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0528" y="480060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Conviction-gated weekly picks (4+ weeks)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171432" y="4023360"/>
            <a:ext cx="26243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71432" y="4041648"/>
            <a:ext cx="50292" cy="156362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35" name="Text 33"/>
          <p:cNvSpPr/>
          <p:nvPr/>
        </p:nvSpPr>
        <p:spPr>
          <a:xfrm>
            <a:off x="9354312" y="42245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/ Today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54312" y="480060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market snapshots by date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Scanner — eight signals, one clock face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answers “where’s the move?” on a different horizon, every name carrying its fundamental score.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67128"/>
            <a:ext cx="50292" cy="165506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50008"/>
            <a:ext cx="457200" cy="457200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04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Igniting today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volume explosion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83864" y="2148840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3864" y="2167128"/>
            <a:ext cx="50292" cy="165506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66744" y="2350008"/>
            <a:ext cx="457200" cy="45720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14" name="Text 12"/>
          <p:cNvSpPr/>
          <p:nvPr/>
        </p:nvSpPr>
        <p:spPr>
          <a:xfrm>
            <a:off x="3666744" y="2404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66744" y="29260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Leaders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66744" y="33375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golden cross, slow burn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27648" y="2148840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2167128"/>
            <a:ext cx="50292" cy="165506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0528" y="2350008"/>
            <a:ext cx="457200" cy="457200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2404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29260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Support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10528" y="33375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tested floors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71432" y="2148840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71432" y="2167128"/>
            <a:ext cx="50292" cy="165506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25" name="Shape 23"/>
          <p:cNvSpPr/>
          <p:nvPr/>
        </p:nvSpPr>
        <p:spPr>
          <a:xfrm>
            <a:off x="9354312" y="2350008"/>
            <a:ext cx="457200" cy="45720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26" name="Text 24"/>
          <p:cNvSpPr/>
          <p:nvPr/>
        </p:nvSpPr>
        <p:spPr>
          <a:xfrm>
            <a:off x="9354312" y="2404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54312" y="29260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Fallen Leaders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354312" y="33375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Beaten-down quality reversing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133088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151376"/>
            <a:ext cx="50292" cy="165506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4334256"/>
            <a:ext cx="457200" cy="457200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389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91032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groups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22960" y="53218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rotation heatmap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483864" y="4133088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83864" y="4151376"/>
            <a:ext cx="50292" cy="165506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37" name="Shape 35"/>
          <p:cNvSpPr/>
          <p:nvPr/>
        </p:nvSpPr>
        <p:spPr>
          <a:xfrm>
            <a:off x="3666744" y="4334256"/>
            <a:ext cx="457200" cy="45720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38" name="Text 36"/>
          <p:cNvSpPr/>
          <p:nvPr/>
        </p:nvSpPr>
        <p:spPr>
          <a:xfrm>
            <a:off x="3666744" y="4389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66744" y="491032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Sectors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3666744" y="53218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sector rotation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27648" y="4133088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27648" y="4151376"/>
            <a:ext cx="50292" cy="165506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43" name="Shape 41"/>
          <p:cNvSpPr/>
          <p:nvPr/>
        </p:nvSpPr>
        <p:spPr>
          <a:xfrm>
            <a:off x="6510528" y="4334256"/>
            <a:ext cx="457200" cy="457200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44" name="Text 42"/>
          <p:cNvSpPr/>
          <p:nvPr/>
        </p:nvSpPr>
        <p:spPr>
          <a:xfrm>
            <a:off x="6510528" y="4389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510528" y="491032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6510528" y="53218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Split-safe candlesticks, 4-up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171432" y="4133088"/>
            <a:ext cx="26243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71432" y="4151376"/>
            <a:ext cx="50292" cy="165506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49" name="Shape 47"/>
          <p:cNvSpPr/>
          <p:nvPr/>
        </p:nvSpPr>
        <p:spPr>
          <a:xfrm>
            <a:off x="9354312" y="4334256"/>
            <a:ext cx="457200" cy="45720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50" name="Text 48"/>
          <p:cNvSpPr/>
          <p:nvPr/>
        </p:nvSpPr>
        <p:spPr>
          <a:xfrm>
            <a:off x="9354312" y="4389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354312" y="491032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stocks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9354312" y="53218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ranked universe, sortable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three layers, two databases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50292" cy="224942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3429000" cy="566928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39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16 · App Router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Server Components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3467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ISR cache 6–10h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630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4 + Radix UI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913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Recharts + SVG sparklines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05656" y="2834640"/>
            <a:ext cx="448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984248"/>
            <a:ext cx="50292" cy="224942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965960"/>
            <a:ext cx="3429000" cy="566928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039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Postgres DBs (Neon)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 — scores, users, watchlist,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3467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portfolio, universe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3630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golden — read-only OHLCV,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3913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split-adjusted, multi-year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37576" y="2834640"/>
            <a:ext cx="448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503920" y="19659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984248"/>
            <a:ext cx="50292" cy="2249424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1965960"/>
            <a:ext cx="3429000" cy="566928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2039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73252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· Typer CLI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3252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fetch → Screener.in XLSX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32520" y="33467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compute-metrics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32520" y="3630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score (percentile + composite)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32520" y="3913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cluster assignment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956048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956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Screener.in — quarterly financials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01568" y="4956048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8728" y="4956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bhavcopy — daily OHLCV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63056" y="4956048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4956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API — IPO / micro-cap gap-fill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24544" y="4956048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61704" y="4956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rebalance CSVs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engine — peer-relative, not absolute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is judged against cement, a bank against banks. Percentiles are computed inside each (cluster, maturity-tier) bucket.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THREE-PILLAR COMPOSITE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578608"/>
            <a:ext cx="50292" cy="74066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700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267004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3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26700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3y/5y, profit CAGR, margins, ROCE, FCF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93008"/>
            <a:ext cx="50292" cy="74066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844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358444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5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35844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TTM, P/B, EV/EBITDA, EV/Sales · windfall-guarded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407408"/>
            <a:ext cx="50292" cy="740664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988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449884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48840" y="44988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relative return, trend strength, breadth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HIERARCHY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25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818120" y="25603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meta-clusters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017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1272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25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818120" y="312724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clusters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5844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69417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25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2,132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818120" y="36941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stocks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44805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PIPELINE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828032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F2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8280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in bucket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5285232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F2F6F9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52852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thin buckets → 50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5742432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F2F6F9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57424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Loss-maker splice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6199632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F2F6F9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61996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composite_pct 0–100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runs itself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dozen GitHub Actions workflows chain fetch → compute → refresh → alert, staggered around the NSE close.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25496"/>
            <a:ext cx="10911535" cy="10973"/>
          </a:xfrm>
          <a:prstGeom prst="rect">
            <a:avLst/>
          </a:prstGeom>
          <a:solidFill>
            <a:srgbClr val="12324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40864"/>
            <a:ext cx="219456" cy="219456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18:30 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2044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Refresh LTP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0" y="2240280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bhavcopy → prices, market cap, panel cache, golden OHLC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10911535" cy="10973"/>
          </a:xfrm>
          <a:prstGeom prst="rect">
            <a:avLst/>
          </a:prstGeom>
          <a:solidFill>
            <a:srgbClr val="12324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99232"/>
            <a:ext cx="219456" cy="219456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898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20:30 IST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28986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Scanner signals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2898648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momentum, trend-leaders, support-floor cron routes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10973"/>
          </a:xfrm>
          <a:prstGeom prst="rect">
            <a:avLst/>
          </a:prstGeom>
          <a:solidFill>
            <a:srgbClr val="1232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57600"/>
            <a:ext cx="219456" cy="219456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557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18:30 IST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20440" y="355701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fetch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557016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Screener.in → raw XLSX blobs to Neon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10911535" cy="10973"/>
          </a:xfrm>
          <a:prstGeom prst="rect">
            <a:avLst/>
          </a:prstGeom>
          <a:solidFill>
            <a:srgbClr val="1232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315968"/>
            <a:ext cx="219456" cy="219456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215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20440" y="42153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compute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72200" y="4215384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compute-metrics + score + rebuild market cache + purge CDN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10911535" cy="10973"/>
          </a:xfrm>
          <a:prstGeom prst="rect">
            <a:avLst/>
          </a:prstGeom>
          <a:solidFill>
            <a:srgbClr val="12324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974336"/>
            <a:ext cx="219456" cy="219456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8737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12h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20440" y="48737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Freshness check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72200" y="4873752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scores &gt;8d or prices &gt;4d stale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117336"/>
            <a:ext cx="10911535" cy="10973"/>
          </a:xfrm>
          <a:prstGeom prst="rect">
            <a:avLst/>
          </a:prstGeom>
          <a:solidFill>
            <a:srgbClr val="12324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5632704"/>
            <a:ext cx="219456" cy="219456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5532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20440" y="5532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Universe sync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72200" y="5532120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new NSE listings into the scored universe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DEFENSIBLE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raw data — the peer framing, the split-safety, and the accumulating snapshot archive.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512064" cy="512064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76856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Peer-relative scoring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640" y="2148840"/>
            <a:ext cx="6430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fine-grained buckets + shrinkage — compares like-for-like, not one blunt market rank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512064" cy="512064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93522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Split-safe candles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640" y="2935224"/>
            <a:ext cx="6430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 scaled by adj_close/close — no phantom split cliffs, consistent platform-wide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12064" cy="512064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9624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7216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snapshot archive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640" y="3721608"/>
            <a:ext cx="6430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year of composite + signal history powers conviction gating and rotation reads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81144"/>
            <a:ext cx="512064" cy="512064"/>
          </a:xfrm>
          <a:prstGeom prst="ellipse">
            <a:avLst/>
          </a:prstGeom>
          <a:solidFill>
            <a:srgbClr val="0E83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36008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50799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price DB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4507992"/>
            <a:ext cx="6430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Authoritative, split-adjusted, multi-year OHLCV — a single source of truth for every chart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67528"/>
            <a:ext cx="512064" cy="512064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22392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29437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Windfall-guarded valuation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20640" y="5294376"/>
            <a:ext cx="64309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floored by run-rate — penalises decaying super-cycles that other screeners flatter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spine is done. The open edges are execution, breadth, and automation.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5486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591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98648"/>
            <a:ext cx="50292" cy="138074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broker orders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35387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are read-only today — add order/trade execution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498848"/>
            <a:ext cx="50292" cy="1380744"/>
          </a:xfrm>
          <a:prstGeom prst="rect">
            <a:avLst/>
          </a:prstGeom>
          <a:solidFill>
            <a:srgbClr val="0E839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Multi-portfolio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1248" y="51389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/ group workspaces beyond one book per 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9976" y="2194560"/>
            <a:ext cx="3520440" cy="5486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6" name="Text 14"/>
          <p:cNvSpPr/>
          <p:nvPr/>
        </p:nvSpPr>
        <p:spPr>
          <a:xfrm>
            <a:off x="4379976" y="23591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9976" y="28803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9976" y="2898648"/>
            <a:ext cx="50292" cy="138074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19" name="Text 17"/>
          <p:cNvSpPr/>
          <p:nvPr/>
        </p:nvSpPr>
        <p:spPr>
          <a:xfrm>
            <a:off x="4581144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news feed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581144" y="35387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news &amp; announcements pages to a live source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79976" y="44805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9976" y="4498848"/>
            <a:ext cx="50292" cy="1380744"/>
          </a:xfrm>
          <a:prstGeom prst="rect">
            <a:avLst/>
          </a:prstGeom>
          <a:solidFill>
            <a:srgbClr val="12507A"/>
          </a:solidFill>
          <a:ln/>
        </p:spPr>
      </p:sp>
      <p:sp>
        <p:nvSpPr>
          <p:cNvPr id="23" name="Text 21"/>
          <p:cNvSpPr/>
          <p:nvPr/>
        </p:nvSpPr>
        <p:spPr>
          <a:xfrm>
            <a:off x="4581144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Peer-comparison views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81144" y="51389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side-by-side charts within a cluster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19872" y="2194560"/>
            <a:ext cx="3520440" cy="54864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872" y="23591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28803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2898648"/>
            <a:ext cx="50292" cy="1380744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 rotation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321040" y="35387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Screener session refresh — still manual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9872" y="44805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4498848"/>
            <a:ext cx="50292" cy="1380744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cascade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321040" y="51389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Auto-revalidate on scorecard changes, no manual call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EQUITYROOTS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8288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Insight-first.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Peer-relative.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Rebuilt every week.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NSE research stack — scoring engine, eight scanners, and a self-refreshing data pipeline — shipped and running.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2,132 stocks  ·  46 peer clusters  ·  8 daily scanners  ·  12 automated workflows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2026-08-02T15:48:44Z</dcterms:created>
  <dcterms:modified xsi:type="dcterms:W3CDTF">2026-08-02T15:48:44Z</dcterms:modified>
</cp:coreProperties>
</file>