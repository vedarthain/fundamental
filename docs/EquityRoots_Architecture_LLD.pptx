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EquityRoots 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Design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Design Reference  ·  Internal Use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011680" cy="347472"/>
          </a:xfrm>
          <a:prstGeom prst="rect">
            <a:avLst>
              <a:gd name="adj" fmla="val 50000"/>
            </a:avLst>
          </a:prstGeom>
          <a:solidFill>
            <a:srgbClr val="F0EC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245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·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35808" y="4206240"/>
            <a:ext cx="2011680" cy="34747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3035808" y="42245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(local)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48656" y="4206240"/>
            <a:ext cx="2011680" cy="347472"/>
          </a:xfrm>
          <a:prstGeom prst="rect">
            <a:avLst>
              <a:gd name="adj" fmla="val 50000"/>
            </a:avLst>
          </a:prstGeom>
          <a:solidFill>
            <a:srgbClr val="EDFAF2"/>
          </a:solidFill>
          <a:ln/>
        </p:spPr>
      </p:sp>
      <p:sp>
        <p:nvSpPr>
          <p:cNvPr id="12" name="Text 10"/>
          <p:cNvSpPr/>
          <p:nvPr/>
        </p:nvSpPr>
        <p:spPr>
          <a:xfrm>
            <a:off x="5248656" y="42245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61504" y="4206240"/>
            <a:ext cx="2011680" cy="347472"/>
          </a:xfrm>
          <a:prstGeom prst="rect">
            <a:avLst>
              <a:gd name="adj" fmla="val 50000"/>
            </a:avLst>
          </a:prstGeom>
          <a:solidFill>
            <a:srgbClr val="E8F8F7"/>
          </a:solidFill>
          <a:ln/>
        </p:spPr>
      </p:sp>
      <p:sp>
        <p:nvSpPr>
          <p:cNvPr id="14" name="Text 12"/>
          <p:cNvSpPr/>
          <p:nvPr/>
        </p:nvSpPr>
        <p:spPr>
          <a:xfrm>
            <a:off x="7461504" y="42245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Vercel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74352" y="4206240"/>
            <a:ext cx="2011680" cy="347472"/>
          </a:xfrm>
          <a:prstGeom prst="rect">
            <a:avLst>
              <a:gd name="adj" fmla="val 50000"/>
            </a:avLst>
          </a:prstGeom>
          <a:solidFill>
            <a:srgbClr val="FEF9E7"/>
          </a:solidFill>
          <a:ln/>
        </p:spPr>
      </p:sp>
      <p:sp>
        <p:nvSpPr>
          <p:cNvPr id="16" name="Text 14"/>
          <p:cNvSpPr/>
          <p:nvPr/>
        </p:nvSpPr>
        <p:spPr>
          <a:xfrm>
            <a:off x="9674352" y="42245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77272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657600" cy="1600200"/>
          </a:xfrm>
          <a:prstGeom prst="rect">
            <a:avLst>
              <a:gd name="adj" fmla="val 5714"/>
            </a:avLst>
          </a:prstGeom>
          <a:solidFill>
            <a:srgbClr val="FBFBFD"/>
          </a:solidFill>
          <a:ln w="15240">
            <a:solidFill>
              <a:srgbClr val="D6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438912" cy="1600200"/>
          </a:xfrm>
          <a:prstGeom prst="rect">
            <a:avLst>
              <a:gd name="adj" fmla="val 20833"/>
            </a:avLst>
          </a:prstGeom>
          <a:solidFill>
            <a:srgbClr val="3D577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100584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41732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Screener → ETL → Postgres → Neon → Vercel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822960"/>
            <a:ext cx="3657600" cy="1600200"/>
          </a:xfrm>
          <a:prstGeom prst="rect">
            <a:avLst>
              <a:gd name="adj" fmla="val 5714"/>
            </a:avLst>
          </a:prstGeom>
          <a:solidFill>
            <a:srgbClr val="FBFBFD"/>
          </a:solidFill>
          <a:ln w="15240">
            <a:solidFill>
              <a:srgbClr val="D6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822960"/>
            <a:ext cx="438912" cy="1600200"/>
          </a:xfrm>
          <a:prstGeom prst="rect">
            <a:avLst>
              <a:gd name="adj" fmla="val 20833"/>
            </a:avLst>
          </a:prstGeom>
          <a:solidFill>
            <a:srgbClr val="3D5778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41732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8032" y="100584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— Part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41732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computation · peer bucket assignment · percentile ranking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822960"/>
            <a:ext cx="3657600" cy="1600200"/>
          </a:xfrm>
          <a:prstGeom prst="rect">
            <a:avLst>
              <a:gd name="adj" fmla="val 5714"/>
            </a:avLst>
          </a:prstGeom>
          <a:solidFill>
            <a:srgbClr val="FBFBFD"/>
          </a:solidFill>
          <a:ln w="15240">
            <a:solidFill>
              <a:srgbClr val="D6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822960"/>
            <a:ext cx="438912" cy="1600200"/>
          </a:xfrm>
          <a:prstGeom prst="rect">
            <a:avLst>
              <a:gd name="adj" fmla="val 20833"/>
            </a:avLst>
          </a:prstGeom>
          <a:solidFill>
            <a:srgbClr val="3D577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41732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59952" y="100584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— Part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59952" y="141732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scores · Industry Score (re-percentiled) · Your Score (custom blend)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3657600" cy="1600200"/>
          </a:xfrm>
          <a:prstGeom prst="rect">
            <a:avLst>
              <a:gd name="adj" fmla="val 5714"/>
            </a:avLst>
          </a:prstGeom>
          <a:solidFill>
            <a:srgbClr val="FBFBFD"/>
          </a:solidFill>
          <a:ln w="15240">
            <a:solidFill>
              <a:srgbClr val="D6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606040"/>
            <a:ext cx="438912" cy="1600200"/>
          </a:xfrm>
          <a:prstGeom prst="rect">
            <a:avLst>
              <a:gd name="adj" fmla="val 20833"/>
            </a:avLst>
          </a:prstGeom>
          <a:solidFill>
            <a:srgbClr val="3D577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0040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278892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320040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cluster scorecards · 4 maturity tiers · loss-maker fallbacks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2606040"/>
            <a:ext cx="3657600" cy="1600200"/>
          </a:xfrm>
          <a:prstGeom prst="rect">
            <a:avLst>
              <a:gd name="adj" fmla="val 5714"/>
            </a:avLst>
          </a:prstGeom>
          <a:solidFill>
            <a:srgbClr val="FBFBFD"/>
          </a:solidFill>
          <a:ln w="15240">
            <a:solidFill>
              <a:srgbClr val="D6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2606040"/>
            <a:ext cx="438912" cy="1600200"/>
          </a:xfrm>
          <a:prstGeom prst="rect">
            <a:avLst>
              <a:gd name="adj" fmla="val 20833"/>
            </a:avLst>
          </a:prstGeom>
          <a:solidFill>
            <a:srgbClr val="3D5778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320040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28032" y="278892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Library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320040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active formulas across Quality, Valuation, Momentum pillars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2606040"/>
            <a:ext cx="3657600" cy="1600200"/>
          </a:xfrm>
          <a:prstGeom prst="rect">
            <a:avLst>
              <a:gd name="adj" fmla="val 5714"/>
            </a:avLst>
          </a:prstGeom>
          <a:solidFill>
            <a:srgbClr val="FBFBFD"/>
          </a:solidFill>
          <a:ln w="15240">
            <a:solidFill>
              <a:srgbClr val="D6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2606040"/>
            <a:ext cx="438912" cy="1600200"/>
          </a:xfrm>
          <a:prstGeom prst="rect">
            <a:avLst>
              <a:gd name="adj" fmla="val 20833"/>
            </a:avLst>
          </a:prstGeom>
          <a:solidFill>
            <a:srgbClr val="3D5778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20040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59952" y="278892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 — Routes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59952" y="320040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app routes + key components (Controls, MetricViz, score.ts …)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89120"/>
            <a:ext cx="3657600" cy="1600200"/>
          </a:xfrm>
          <a:prstGeom prst="rect">
            <a:avLst>
              <a:gd name="adj" fmla="val 5714"/>
            </a:avLst>
          </a:prstGeom>
          <a:solidFill>
            <a:srgbClr val="FBFBFD"/>
          </a:solidFill>
          <a:ln w="15240">
            <a:solidFill>
              <a:srgbClr val="D6DE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389120"/>
            <a:ext cx="438912" cy="1600200"/>
          </a:xfrm>
          <a:prstGeom prst="rect">
            <a:avLst>
              <a:gd name="adj" fmla="val 20833"/>
            </a:avLst>
          </a:prstGeom>
          <a:solidFill>
            <a:srgbClr val="3D5778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8348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6112" y="457200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96112" y="498348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app.scores · metrics_snapshot · cluster_scorecard_active · screener_meta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97680" y="4389120"/>
            <a:ext cx="3657600" cy="1600200"/>
          </a:xfrm>
          <a:prstGeom prst="rect">
            <a:avLst>
              <a:gd name="adj" fmla="val 5714"/>
            </a:avLst>
          </a:prstGeom>
          <a:solidFill>
            <a:srgbClr val="FBFBFD"/>
          </a:solidFill>
          <a:ln w="15240">
            <a:solidFill>
              <a:srgbClr val="D6DE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97680" y="4389120"/>
            <a:ext cx="438912" cy="1600200"/>
          </a:xfrm>
          <a:prstGeom prst="rect">
            <a:avLst>
              <a:gd name="adj" fmla="val 20833"/>
            </a:avLst>
          </a:prstGeom>
          <a:solidFill>
            <a:srgbClr val="3D5778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0" y="498348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28032" y="457200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Bands &amp; Comparison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28032" y="498348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display bands · Industry Score vs Your Score side-by-side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229600" y="4389120"/>
            <a:ext cx="3657600" cy="1600200"/>
          </a:xfrm>
          <a:prstGeom prst="rect">
            <a:avLst>
              <a:gd name="adj" fmla="val 5714"/>
            </a:avLst>
          </a:prstGeom>
          <a:solidFill>
            <a:srgbClr val="FBFBFD"/>
          </a:solidFill>
          <a:ln w="15240">
            <a:solidFill>
              <a:srgbClr val="D6DE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600" y="4389120"/>
            <a:ext cx="438912" cy="1600200"/>
          </a:xfrm>
          <a:prstGeom prst="rect">
            <a:avLst>
              <a:gd name="adj" fmla="val 20833"/>
            </a:avLst>
          </a:prstGeom>
          <a:solidFill>
            <a:srgbClr val="3D5778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498348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59952" y="4572000"/>
            <a:ext cx="3035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Reference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759952" y="498348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in the pipeline with frequency and transport method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END TO 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011680" cy="25603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92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11640312" cy="1234440"/>
          </a:xfrm>
          <a:prstGeom prst="rect">
            <a:avLst>
              <a:gd name="adj" fmla="val 5926"/>
            </a:avLst>
          </a:prstGeom>
          <a:solidFill>
            <a:srgbClr val="F0ECFF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612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11640312" cy="1234440"/>
          </a:xfrm>
          <a:prstGeom prst="rect">
            <a:avLst>
              <a:gd name="adj" fmla="val 5926"/>
            </a:avLst>
          </a:prstGeom>
          <a:solidFill>
            <a:srgbClr val="F5F0FF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328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 (local)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401568"/>
            <a:ext cx="11640312" cy="1234440"/>
          </a:xfrm>
          <a:prstGeom prst="rect">
            <a:avLst>
              <a:gd name="adj" fmla="val 5926"/>
            </a:avLst>
          </a:prstGeom>
          <a:solidFill>
            <a:srgbClr val="EEF2F7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044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773168"/>
            <a:ext cx="11640312" cy="1234440"/>
          </a:xfrm>
          <a:prstGeom prst="rect">
            <a:avLst>
              <a:gd name="adj" fmla="val 5926"/>
            </a:avLst>
          </a:prstGeom>
          <a:solidFill>
            <a:srgbClr val="FDECEA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52760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PROD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91640" y="777240"/>
            <a:ext cx="22860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1368" y="85039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Screener.in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01368" y="10972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export per ticker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0520" y="777240"/>
            <a:ext cx="22860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85039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Bhavcopy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70248" y="10972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EQ/BE 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LTP prices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777240"/>
            <a:ext cx="22860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85039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39128" y="10972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252-day OHLCV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symbol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98280" y="777240"/>
            <a:ext cx="22860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85039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Signals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08008" y="10972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· RSI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691640" y="2148840"/>
            <a:ext cx="22860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1368" y="222199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fetch-many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801368" y="24688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scraper.py · 1 req/s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worker sequential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60520" y="2148840"/>
            <a:ext cx="22860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0248" y="222199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formulas.py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70248" y="24688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metric fns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V · M pillars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0" y="2148840"/>
            <a:ext cx="22860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39128" y="222199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scorer.py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39128" y="24688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peer cluster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098280" y="2148840"/>
            <a:ext cx="22860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08008" y="222199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scorecards.py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08008" y="24688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cluster configs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tier variants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691640" y="3520440"/>
            <a:ext cx="32004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D57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01368" y="3593592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DB  (local Postgres)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801368" y="3858768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metrics_snapshot · scores · cluster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screener_meta · fundamentals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66360" y="3520440"/>
            <a:ext cx="32004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D57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76088" y="3593592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DB  (local Postgres)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76088" y="3858768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price_history · indicators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daily_signals · nifty_returns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641080" y="3520440"/>
            <a:ext cx="31089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A6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50808" y="3593592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sync-neon.sh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750808" y="3858768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200 subset → Neon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 COPY · idempotent upserts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691640" y="4892040"/>
            <a:ext cx="32004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4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01368" y="4965192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— app DB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801368" y="5230368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· screener_meta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200 subset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166360" y="4892040"/>
            <a:ext cx="320040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4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76088" y="4965192"/>
            <a:ext cx="2980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— golden DB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276088" y="5230368"/>
            <a:ext cx="2980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price_history · indicators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200 subset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641080" y="4892040"/>
            <a:ext cx="31089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D7A7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50808" y="4965192"/>
            <a:ext cx="2889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Vercel  (Next.js)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750808" y="5230368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EquityRoots web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Neon on each request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160520" y="777240"/>
            <a:ext cx="2286000" cy="914400"/>
          </a:xfrm>
          <a:prstGeom prst="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7A60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70248" y="850392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270248" y="1097280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refresh-ltp.yml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18:30 IST · Mon–Fri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 only → Neon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834640" y="16916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834640" y="30632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834640" y="4434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DESIGN · METRIC COMPUTATION + PEER BUCKETS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— Steps 1 &amp;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66960" y="640080"/>
            <a:ext cx="1920240" cy="25603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0" y="6492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457200" cy="457200"/>
          </a:xfrm>
          <a:prstGeom prst="ellipse">
            <a:avLst/>
          </a:prstGeom>
          <a:solidFill>
            <a:srgbClr val="3D577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95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8046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Computation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12801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metrics.py loads annual and quarterly financials from app.fundamentals_* and 252-day price history from golden.price_history. It calls every formula in the cluster's active scorecard and writes raw values to app.metrics_snapshot as a JSONB dict. Nifty returns (3m/6m/12m) are computed as market benchmark for relative momentum formulas.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6858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app.metrics_snapshot  ·  cluster_metrics JSONB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905256"/>
            <a:ext cx="5029200" cy="1700784"/>
          </a:xfrm>
          <a:prstGeom prst="rect">
            <a:avLst>
              <a:gd name="adj" fmla="val 3763"/>
            </a:avLst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996696"/>
            <a:ext cx="475488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"roe_3y":       18.4,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"roe_5y":       16.1,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"pe_ttm":       null,   ← loss-maker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"ev_sales_ttm": 3.2,    ← fallback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"ret_12m_rel":  12.3,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"op_margin_3y": 22.1,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...90+ fields per stock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11457432" cy="0"/>
          </a:xfrm>
          <a:prstGeom prst="line">
            <a:avLst/>
          </a:prstGeom>
          <a:noFill/>
          <a:ln w="10160">
            <a:solidFill>
              <a:srgbClr val="D6DEE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2633472"/>
            <a:ext cx="457200" cy="457200"/>
          </a:xfrm>
          <a:prstGeom prst="ellipse">
            <a:avLst/>
          </a:prstGeom>
          <a:solidFill>
            <a:srgbClr val="5B3FA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679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6883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Bucket Assignment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315468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stock is placed in a peer bucket by (cluster_id, maturity_tier). Scores are always peer-relative — not market-wide. If the primary bucket has fewer than 10 peers the system falls back to broader groups. score_status records which bucket was used.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41648"/>
            <a:ext cx="11457432" cy="694944"/>
          </a:xfrm>
          <a:prstGeom prst="rect">
            <a:avLst>
              <a:gd name="adj" fmla="val 9211"/>
            </a:avLst>
          </a:prstGeom>
          <a:solidFill>
            <a:srgbClr val="EDFAF2"/>
          </a:solidFill>
          <a:ln w="15240">
            <a:solidFill>
              <a:srgbClr val="2E9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330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4160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(cluster, tier) bucket ≥10 peers — best accuracy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46320"/>
            <a:ext cx="11457432" cy="694944"/>
          </a:xfrm>
          <a:prstGeom prst="rect">
            <a:avLst>
              <a:gd name="adj" fmla="val 9211"/>
            </a:avLst>
          </a:prstGeom>
          <a:solidFill>
            <a:srgbClr val="FEF9E7"/>
          </a:solidFill>
          <a:ln w="15240">
            <a:solidFill>
              <a:srgbClr val="7A6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37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partial-cluster-mixed-tiers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49651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 merged into one cluster bucket — ≥10 found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5650992"/>
            <a:ext cx="11457432" cy="694944"/>
          </a:xfrm>
          <a:prstGeom prst="rect">
            <a:avLst>
              <a:gd name="adj" fmla="val 9211"/>
            </a:avLst>
          </a:prstGeom>
          <a:solidFill>
            <a:srgbClr val="FDECEA"/>
          </a:solidFill>
          <a:ln w="15240">
            <a:solidFill>
              <a:srgbClr val="C94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742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partial-meta-cluster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57698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back to meta-cluster + tier bucket — thinnest cluster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DESIGN · DIRECTION-AWARE PEER RANK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— Step 3: Percentile Ranking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011680" cy="25603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92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10 (cont.)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749808"/>
            <a:ext cx="457200" cy="457200"/>
          </a:xfrm>
          <a:prstGeom prst="ellipse">
            <a:avLst/>
          </a:prstGeom>
          <a:solidFill>
            <a:srgbClr val="1D7A7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795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80467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11457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formula, raw values within the peer bucket are converted to a 0–100 percentile rank. Best stock = 100, worst = 0. Null values stay null — a stock is never penalized for missing data. The direction decorator determines which end is 'better':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5669280" cy="1828800"/>
          </a:xfrm>
          <a:prstGeom prst="rect">
            <a:avLst>
              <a:gd name="adj" fmla="val 5000"/>
            </a:avLst>
          </a:prstGeom>
          <a:solidFill>
            <a:srgbClr val="EDFAF2"/>
          </a:solidFill>
          <a:ln w="19050">
            <a:solidFill>
              <a:srgbClr val="2E9A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12848"/>
            <a:ext cx="402336" cy="402336"/>
          </a:xfrm>
          <a:prstGeom prst="ellipse">
            <a:avLst/>
          </a:prstGeom>
          <a:solidFill>
            <a:srgbClr val="2E9A4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31136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23113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@_higher  →  larger value = better rank (100)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651760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7121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roe_3y · roce_3y · op_margin_3y · rev_cagr_5y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ret_12m_rel · np_cagr_5y · fcf_yield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81928" y="2084832"/>
            <a:ext cx="5669280" cy="1828800"/>
          </a:xfrm>
          <a:prstGeom prst="rect">
            <a:avLst>
              <a:gd name="adj" fmla="val 5000"/>
            </a:avLst>
          </a:prstGeom>
          <a:solidFill>
            <a:srgbClr val="FEF9E7"/>
          </a:solidFill>
          <a:ln w="19050">
            <a:solidFill>
              <a:srgbClr val="7A6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212848"/>
            <a:ext cx="402336" cy="402336"/>
          </a:xfrm>
          <a:prstGeom prst="ellipse">
            <a:avLst/>
          </a:prstGeom>
          <a:solidFill>
            <a:srgbClr val="7A6020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2231136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22008" y="2231136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@_lower  →  smaller value = better rank (100)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64808" y="2651760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64808" y="287121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pe_ttm · pb · ev_ebitda_ttm · debt_equity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net_debt_ebitda · wc_days · capex_intensity_3y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041648"/>
            <a:ext cx="11457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scorer.py  ·  _percentile_rank()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61104"/>
            <a:ext cx="11457432" cy="2176272"/>
          </a:xfrm>
          <a:prstGeom prst="rect">
            <a:avLst>
              <a:gd name="adj" fmla="val 2941"/>
            </a:avLst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352544"/>
            <a:ext cx="11183112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_percentile_rank(values: list[float | None], higher_is_better: bool) -&gt; list[float | None]: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 = [(i, v) for i, v in enumerate(values) if v is not None]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len(valid)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sorted_valid = sorted(valid, key=lambda x: x[1], reverse=higher_is_better)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higher_is_better=True  → descending sort → first item gets rank 100 (best)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higher_is_better=False → ascending sort  → first item gets rank 100 (cheapest = best)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ranks = {}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rank, (i, _) in enumerate(sorted_valid):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ranks[i] = round((1 - rank / (n - 1)) * 100) if n &gt; 1 else 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[ranks.get(i) for i in range(len(values))]   # None stays None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DESIGN · PILLAR SCORES · INDUSTRY SCORE · YOUR SCORE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— Steps 4, 5 &amp; 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011680" cy="25603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92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3749040" cy="5760720"/>
          </a:xfrm>
          <a:prstGeom prst="rect">
            <a:avLst>
              <a:gd name="adj" fmla="val 2439"/>
            </a:avLst>
          </a:prstGeom>
          <a:solidFill>
            <a:srgbClr val="FEF9E7"/>
          </a:solidFill>
          <a:ln w="19050">
            <a:solidFill>
              <a:srgbClr val="7A6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786384"/>
            <a:ext cx="420624" cy="420624"/>
          </a:xfrm>
          <a:prstGeom prst="ellipse">
            <a:avLst/>
          </a:prstGeom>
          <a:solidFill>
            <a:srgbClr val="7A602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81381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4128" y="82296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Pillar Scores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34930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percentiles are weighted within each pillar (Quality, Valuation, Momentum). Weights re-normalize across non-null components — missing data does NOT collapse the pillar score.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3493008" cy="2926080"/>
          </a:xfrm>
          <a:prstGeom prst="rect">
            <a:avLst>
              <a:gd name="adj" fmla="val 2188"/>
            </a:avLst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3401568"/>
            <a:ext cx="32735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quality_pct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Σ( component_pct[k] × w[k]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Σ( w[k]  for all non-null k 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658368"/>
            <a:ext cx="3749040" cy="5760720"/>
          </a:xfrm>
          <a:prstGeom prst="rect">
            <a:avLst>
              <a:gd name="adj" fmla="val 2439"/>
            </a:avLst>
          </a:prstGeom>
          <a:solidFill>
            <a:srgbClr val="EDFAF2"/>
          </a:solidFill>
          <a:ln w="19050">
            <a:solidFill>
              <a:srgbClr val="2E9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786384"/>
            <a:ext cx="420624" cy="420624"/>
          </a:xfrm>
          <a:prstGeom prst="ellipse">
            <a:avLst/>
          </a:prstGeom>
          <a:solidFill>
            <a:srgbClr val="2E9A47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81381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6048" y="82296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Score  (composite_pct)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1316736"/>
            <a:ext cx="34930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Cluster-default pillar weights blend the three pillars into a raw composite. That raw composite is then RE-PERCENTILED within the peer bucket → composite_pct. Double-percentile = uniform 0-100 regardless of pillar skew. Stored in app.scores.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3291840"/>
            <a:ext cx="3493008" cy="2926080"/>
          </a:xfrm>
          <a:prstGeom prst="rect">
            <a:avLst>
              <a:gd name="adj" fmla="val 2188"/>
            </a:avLst>
          </a:pr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4544568" y="3401568"/>
            <a:ext cx="32735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= Q_pct×w_q + V_pct×w_v + M_pct×w_m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composite_pct = percentile_rank(raw)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within (cluster, tier)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0" y="658368"/>
            <a:ext cx="3749040" cy="5760720"/>
          </a:xfrm>
          <a:prstGeom prst="rect">
            <a:avLst>
              <a:gd name="adj" fmla="val 2439"/>
            </a:avLst>
          </a:prstGeom>
          <a:solidFill>
            <a:srgbClr val="EEF2F7"/>
          </a:solidFill>
          <a:ln w="19050">
            <a:solidFill>
              <a:srgbClr val="3D57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786384"/>
            <a:ext cx="420624" cy="420624"/>
          </a:xfrm>
          <a:prstGeom prst="ellipse">
            <a:avLst/>
          </a:prstGeom>
          <a:solidFill>
            <a:srgbClr val="3D5778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813816"/>
            <a:ext cx="420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87968" y="82296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Score  (blend — on /discover)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1316736"/>
            <a:ext cx="349300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pillar percentiles are re-blended in SQL using slider weights. No re-percentiling — instant from stored values. Sliders auto-renormalize so w_q + w_v + w_m = 100 always.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66760" y="3291840"/>
            <a:ext cx="3493008" cy="2926080"/>
          </a:xfrm>
          <a:prstGeom prst="rect">
            <a:avLst>
              <a:gd name="adj" fmla="val 2188"/>
            </a:avLst>
          </a:prstGeom>
          <a:solidFill>
            <a:srgbClr val="0D1117"/>
          </a:solidFill>
          <a:ln/>
        </p:spPr>
      </p:sp>
      <p:sp>
        <p:nvSpPr>
          <p:cNvPr id="27" name="Text 25"/>
          <p:cNvSpPr/>
          <p:nvPr/>
        </p:nvSpPr>
        <p:spPr>
          <a:xfrm>
            <a:off x="8476488" y="3401568"/>
            <a:ext cx="32735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blend = ROUND(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 quality_pct  × :w_q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valuation_pct × :w_v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momentum_pct  × :w_m ) / 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-- SQL, per request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DESIGN · 42 CLUSTERS · 4 MATURITY TIERS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Scorecard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66960" y="640080"/>
            <a:ext cx="1920240" cy="25603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0" y="6492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6583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scorecards.py — Scorecard dataclass + example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877824"/>
            <a:ext cx="5486400" cy="5541264"/>
          </a:xfrm>
          <a:prstGeom prst="rect">
            <a:avLst>
              <a:gd name="adj" fmla="val 1167"/>
            </a:avLst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69264"/>
            <a:ext cx="5212080" cy="5358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Scorecard: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pillar_weights: dict[str, float]  # {"q":50,"v":30,"m":20}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quality:    dict[str, float]      # formula_id → intra-pillar weight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valuation:  dict[str, float]      # each dict sums to 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momentum:   dict[str, float]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loss_maker_val_fallback: list[tuple]  # [("pb",1.0)]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Example: Private Banks ──────────────────────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"bfsi_pvt_banks": Scorecard(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pillar_weights = {"q":50, "v":30, "m":20},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quality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"roa_3y":25, "roe_3y":18,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"book_value_cagr_5y":18,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"loan_book_cagr_3y":14,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"np_cagr_5y":12,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"interest_coverage":8,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"net_npa":5,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valuation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"pb":50, "pe_ttm":25,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"ev_ebitda_ttm":15, "div_yield":10,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loss_maker_val_fallback = [("pb", 1.0)],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658368"/>
            <a:ext cx="5760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Tiers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78992"/>
            <a:ext cx="5760720" cy="1188720"/>
          </a:xfrm>
          <a:prstGeom prst="rect">
            <a:avLst>
              <a:gd name="adj" fmla="val 6923"/>
            </a:avLst>
          </a:prstGeom>
          <a:solidFill>
            <a:srgbClr val="EEF2F7"/>
          </a:solidFill>
          <a:ln w="19050">
            <a:solidFill>
              <a:srgbClr val="3D57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78992"/>
            <a:ext cx="1188720" cy="1188720"/>
          </a:xfrm>
          <a:prstGeom prst="rect">
            <a:avLst>
              <a:gd name="adj" fmla="val 6923"/>
            </a:avLst>
          </a:prstGeom>
          <a:solidFill>
            <a:srgbClr val="3D5778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4904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06640" y="11521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listed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06640" y="14630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Quality (from Momentum)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 CAGRs · roe_avg_above_threshold_10y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404872"/>
            <a:ext cx="5760720" cy="1188720"/>
          </a:xfrm>
          <a:prstGeom prst="rect">
            <a:avLst>
              <a:gd name="adj" fmla="val 6923"/>
            </a:avLst>
          </a:prstGeom>
          <a:solidFill>
            <a:srgbClr val="EDFAF2"/>
          </a:solidFill>
          <a:ln w="19050">
            <a:solidFill>
              <a:srgbClr val="2E9A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404872"/>
            <a:ext cx="1188720" cy="1188720"/>
          </a:xfrm>
          <a:prstGeom prst="rect">
            <a:avLst>
              <a:gd name="adj" fmla="val 6923"/>
            </a:avLst>
          </a:prstGeom>
          <a:solidFill>
            <a:srgbClr val="2E9A47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8163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24780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most NSE stocks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27889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scorecard as defined in scorecards.py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adjustments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730752"/>
            <a:ext cx="5760720" cy="1188720"/>
          </a:xfrm>
          <a:prstGeom prst="rect">
            <a:avLst>
              <a:gd name="adj" fmla="val 6923"/>
            </a:avLst>
          </a:prstGeom>
          <a:solidFill>
            <a:srgbClr val="FEF9E7"/>
          </a:solidFill>
          <a:ln w="19050">
            <a:solidFill>
              <a:srgbClr val="7A6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730752"/>
            <a:ext cx="1188720" cy="1188720"/>
          </a:xfrm>
          <a:prstGeom prst="rect">
            <a:avLst>
              <a:gd name="adj" fmla="val 6923"/>
            </a:avLst>
          </a:prstGeom>
          <a:solidFill>
            <a:srgbClr val="7A6020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41422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38039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companies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411480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−5% Quality, +5% Momentum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 CAGRs replace 5y versions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5056632"/>
            <a:ext cx="5760720" cy="1188720"/>
          </a:xfrm>
          <a:prstGeom prst="rect">
            <a:avLst>
              <a:gd name="adj" fmla="val 6923"/>
            </a:avLst>
          </a:prstGeom>
          <a:solidFill>
            <a:srgbClr val="FDECEA"/>
          </a:solidFill>
          <a:ln w="19050">
            <a:solidFill>
              <a:srgbClr val="C94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5056632"/>
            <a:ext cx="1188720" cy="1188720"/>
          </a:xfrm>
          <a:prstGeom prst="rect">
            <a:avLst>
              <a:gd name="adj" fmla="val 6923"/>
            </a:avLst>
          </a:prstGeom>
          <a:solidFill>
            <a:srgbClr val="C9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54681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51297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 listed / thin data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54406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 Quality, +15% Momentum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CAGRs · uses latest values only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DESIGN · FORMULAS.PY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Library — 37 Active Formulas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011680" cy="25603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92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3749040" cy="5779008"/>
          </a:xfrm>
          <a:prstGeom prst="rect">
            <a:avLst>
              <a:gd name="adj" fmla="val 2439"/>
            </a:avLst>
          </a:prstGeom>
          <a:solidFill>
            <a:srgbClr val="EEF2F7"/>
          </a:solidFill>
          <a:ln w="19050">
            <a:solidFill>
              <a:srgbClr val="3D57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658368"/>
            <a:ext cx="3749040" cy="475488"/>
          </a:xfrm>
          <a:prstGeom prst="rect">
            <a:avLst>
              <a:gd name="adj" fmla="val 19231"/>
            </a:avLst>
          </a:prstGeom>
          <a:solidFill>
            <a:srgbClr val="3D57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04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713232"/>
            <a:ext cx="960120" cy="274320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72237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formulas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2252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14721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roe_3y · roe_5y · roa_3y · roce_3y · roce_5y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0482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2951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op_margin_3y · op_margin_latest · op_margin_trend · ebitda_margin_3y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8712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(CAGR)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1181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rev_cagr_3y/5y/7y/10y · np_cagr_3y/5y/7y/10y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6941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9410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np_consistency_3y/5y · roe_avg_above_threshold_5y/10y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51713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Quality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7640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cfo_pat_3y · cfo_ebitda_3y · cfo_sales_3y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53400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55869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debt_equity · interest_coverage · equity_to_assets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5968" y="658368"/>
            <a:ext cx="3749040" cy="5779008"/>
          </a:xfrm>
          <a:prstGeom prst="rect">
            <a:avLst>
              <a:gd name="adj" fmla="val 2439"/>
            </a:avLst>
          </a:prstGeom>
          <a:solidFill>
            <a:srgbClr val="EDFAF2"/>
          </a:solidFill>
          <a:ln w="19050">
            <a:solidFill>
              <a:srgbClr val="2E9A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15968" y="658368"/>
            <a:ext cx="3749040" cy="475488"/>
          </a:xfrm>
          <a:prstGeom prst="rect">
            <a:avLst>
              <a:gd name="adj" fmla="val 19231"/>
            </a:avLst>
          </a:prstGeom>
          <a:solidFill>
            <a:srgbClr val="2E9A47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704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67728" y="713232"/>
            <a:ext cx="960120" cy="274320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67728" y="72237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formulas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53128" y="12252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53128" y="14721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pe_ttm · pb · ev_ebitda_ttm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53128" y="20482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Growth-adjusted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53128" y="22951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peg · earnings_yield_trend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53128" y="28712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return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53128" y="31181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fcf_yield · div_yield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53128" y="36941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Loss-maker fallbacks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53128" y="394106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ev_sales_ttm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p_aum  (NBFCs)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p_premium  (insurance)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66176" y="658368"/>
            <a:ext cx="3749040" cy="5779008"/>
          </a:xfrm>
          <a:prstGeom prst="rect">
            <a:avLst>
              <a:gd name="adj" fmla="val 2439"/>
            </a:avLst>
          </a:prstGeom>
          <a:solidFill>
            <a:srgbClr val="FEF9E7"/>
          </a:solidFill>
          <a:ln w="19050">
            <a:solidFill>
              <a:srgbClr val="7A60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66176" y="658368"/>
            <a:ext cx="3749040" cy="475488"/>
          </a:xfrm>
          <a:prstGeom prst="rect">
            <a:avLst>
              <a:gd name="adj" fmla="val 19231"/>
            </a:avLst>
          </a:prstGeom>
          <a:solidFill>
            <a:srgbClr val="7A6020"/>
          </a:solidFill>
          <a:ln/>
        </p:spPr>
      </p:sp>
      <p:sp>
        <p:nvSpPr>
          <p:cNvPr id="39" name="Text 37"/>
          <p:cNvSpPr/>
          <p:nvPr/>
        </p:nvSpPr>
        <p:spPr>
          <a:xfrm>
            <a:off x="8403336" y="7040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917936" y="713232"/>
            <a:ext cx="960120" cy="274320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917936" y="72237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formulas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03336" y="12252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Market-relative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03336" y="147218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ret_3m_rel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ret_6m_rel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ret_12m_rel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03336" y="20482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403336" y="22951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pct_above_200ema_252d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ema_stack_bull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tech_net_score_scaled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03336" y="28712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momentum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03336" y="31181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sales_yoy_q · np_yoy_q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NEXT.JS APP ROUTER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Layer — Routes &amp; Components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66960" y="640080"/>
            <a:ext cx="1920240" cy="25603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0" y="6492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6858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5669280" cy="585216"/>
          </a:xfrm>
          <a:prstGeom prst="rect">
            <a:avLst>
              <a:gd name="adj" fmla="val 9375"/>
            </a:avLst>
          </a:prstGeom>
          <a:solidFill>
            <a:srgbClr val="EEF2F7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/discover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53312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Screener table · Industry Score + Your Score · weight sliders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82496"/>
            <a:ext cx="5669280" cy="585216"/>
          </a:xfrm>
          <a:prstGeom prst="rect">
            <a:avLst>
              <a:gd name="adj" fmla="val 9375"/>
            </a:avLst>
          </a:prstGeom>
          <a:solidFill>
            <a:srgbClr val="FBFBFD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556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heatmap · 1W/1M/1Y returns · peer-average scores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5669280" cy="585216"/>
          </a:xfrm>
          <a:prstGeom prst="rect">
            <a:avLst>
              <a:gd name="adj" fmla="val 9375"/>
            </a:avLst>
          </a:prstGeom>
          <a:solidFill>
            <a:srgbClr val="EEF2F7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140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/stock/[symbol]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67004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detail · 4 tabs · spider chart · latest result card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5669280" cy="585216"/>
          </a:xfrm>
          <a:prstGeom prst="rect">
            <a:avLst>
              <a:gd name="adj" fmla="val 9375"/>
            </a:avLst>
          </a:prstGeom>
          <a:solidFill>
            <a:srgbClr val="FBFBFD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723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/industry/[id]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28416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table for one cluster · composite ranking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5669280" cy="585216"/>
          </a:xfrm>
          <a:prstGeom prst="rect">
            <a:avLst>
              <a:gd name="adj" fmla="val 9375"/>
            </a:avLst>
          </a:prstGeom>
          <a:solidFill>
            <a:srgbClr val="EEF2F7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30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/glossary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986784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metric entries · animated MetricViz gauge examples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315968"/>
            <a:ext cx="5669280" cy="585216"/>
          </a:xfrm>
          <a:prstGeom prst="rect">
            <a:avLst>
              <a:gd name="adj" fmla="val 9375"/>
            </a:avLst>
          </a:prstGeom>
          <a:solidFill>
            <a:srgbClr val="FBFBFD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89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645152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2–5 stocks on same scorecard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974336"/>
            <a:ext cx="5669280" cy="585216"/>
          </a:xfrm>
          <a:prstGeom prst="rect">
            <a:avLst>
              <a:gd name="adj" fmla="val 9375"/>
            </a:avLst>
          </a:prstGeom>
          <a:solidFill>
            <a:srgbClr val="EEF2F7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047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5303520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walkthrough · animated pipeline diagrams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5632704"/>
            <a:ext cx="5669280" cy="585216"/>
          </a:xfrm>
          <a:prstGeom prst="rect">
            <a:avLst>
              <a:gd name="adj" fmla="val 9375"/>
            </a:avLst>
          </a:prstGeom>
          <a:solidFill>
            <a:srgbClr val="FBFBFD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705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/admin/scorecards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5961888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pillar weights &amp; formula weights per cluster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685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1024128"/>
            <a:ext cx="5486400" cy="585216"/>
          </a:xfrm>
          <a:prstGeom prst="rect">
            <a:avLst>
              <a:gd name="adj" fmla="val 9375"/>
            </a:avLst>
          </a:prstGeom>
          <a:solidFill>
            <a:srgbClr val="F0ECFF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1097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Controls.tsx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1353312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Q/V/M weight sliders · auto-renormalization · 4 presets · min-score filters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1682496"/>
            <a:ext cx="5486400" cy="585216"/>
          </a:xfrm>
          <a:prstGeom prst="rect">
            <a:avLst>
              <a:gd name="adj" fmla="val 9375"/>
            </a:avLst>
          </a:prstGeom>
          <a:solidFill>
            <a:srgbClr val="EEF2F7"/>
          </a:solidFill>
          <a:ln w="12700">
            <a:solidFill>
              <a:srgbClr val="3D57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17556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SnapshotRibbon.tsx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37960" y="2011680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sticky 28px bar · snapshot date · coverage · movers · 1h cache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0" y="2340864"/>
            <a:ext cx="5486400" cy="585216"/>
          </a:xfrm>
          <a:prstGeom prst="rect">
            <a:avLst>
              <a:gd name="adj" fmla="val 9375"/>
            </a:avLst>
          </a:prstGeom>
          <a:solidFill>
            <a:srgbClr val="E8F8F7"/>
          </a:solidFill>
          <a:ln w="12700">
            <a:solidFill>
              <a:srgbClr val="1D7A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4140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StockPageTabs.tsx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37960" y="2670048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tab switcher · Latest result / About / Strengths / Numbers tabs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0" y="2999232"/>
            <a:ext cx="5486400" cy="585216"/>
          </a:xfrm>
          <a:prstGeom prst="rect">
            <a:avLst>
              <a:gd name="adj" fmla="val 9375"/>
            </a:avLst>
          </a:prstGeom>
          <a:solidFill>
            <a:srgbClr val="FEF9E7"/>
          </a:solidFill>
          <a:ln w="12700">
            <a:solidFill>
              <a:srgbClr val="7A6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30723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MetricViz.tsx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37960" y="3328416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client · IntersectionObserver · count-up animation · 5-tier gauge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0" y="3657600"/>
            <a:ext cx="5486400" cy="585216"/>
          </a:xfrm>
          <a:prstGeom prst="rect">
            <a:avLst>
              <a:gd name="adj" fmla="val 9375"/>
            </a:avLst>
          </a:prstGeom>
          <a:solidFill>
            <a:srgbClr val="EDFAF2"/>
          </a:solidFill>
          <a:ln w="12700">
            <a:solidFill>
              <a:srgbClr val="2E9A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730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score.ts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37960" y="3986784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band() · bandColor() · fmtPct() · tierLabel() — shared across all routes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0" y="4315968"/>
            <a:ext cx="5486400" cy="585216"/>
          </a:xfrm>
          <a:prstGeom prst="rect">
            <a:avLst>
              <a:gd name="adj" fmla="val 9375"/>
            </a:avLst>
          </a:prstGeom>
          <a:solidFill>
            <a:srgbClr val="F4F6F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4389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spider.ts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37960" y="4645152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radar chart data builder — Quality/Valuation/Momentum + sub-pillars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0" y="4974336"/>
            <a:ext cx="5486400" cy="585216"/>
          </a:xfrm>
          <a:prstGeom prst="rect">
            <a:avLst>
              <a:gd name="adj" fmla="val 9375"/>
            </a:avLst>
          </a:prstGeom>
          <a:solidFill>
            <a:srgbClr val="F0ECFF"/>
          </a:solidFill>
          <a:ln w="12700">
            <a:solidFill>
              <a:srgbClr val="5B3F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5047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explainer.ts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537960" y="5303520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narrative sentences for each pillar score band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00800" y="5632704"/>
            <a:ext cx="5486400" cy="585216"/>
          </a:xfrm>
          <a:prstGeom prst="rect">
            <a:avLst>
              <a:gd name="adj" fmla="val 9375"/>
            </a:avLst>
          </a:prstGeom>
          <a:solidFill>
            <a:srgbClr val="EEF2F7"/>
          </a:solidFill>
          <a:ln w="12700">
            <a:solidFill>
              <a:srgbClr val="3D577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37960" y="5705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537960" y="5961888"/>
            <a:ext cx="5257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connection pools — app pool + golden pool (Neon over TLS)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POSTGRES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Key Tables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011680" cy="25603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92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5577840" cy="3895344"/>
          </a:xfrm>
          <a:prstGeom prst="rect">
            <a:avLst>
              <a:gd name="adj" fmla="val 2113"/>
            </a:avLst>
          </a:prstGeom>
          <a:solidFill>
            <a:srgbClr val="EEF2F7"/>
          </a:solidFill>
          <a:ln w="19050">
            <a:solidFill>
              <a:srgbClr val="3D57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658368"/>
            <a:ext cx="5577840" cy="566928"/>
          </a:xfrm>
          <a:prstGeom prst="rect">
            <a:avLst>
              <a:gd name="adj" fmla="val 14516"/>
            </a:avLst>
          </a:prstGeom>
          <a:solidFill>
            <a:srgbClr val="3D577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31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app.scores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98755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DB — Neon cloud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2893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symbol, snapshot_date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2893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DATE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5819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cluster_id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5819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which cluster peer group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18745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maturity_tier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8745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veteran / mature / mid / new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1671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quality_pct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1671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0-100 — within-cluster percentile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4597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valuation_pct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459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0-100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27523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momentum_pct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275234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0-100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0449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composite_pct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0449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0-100 — Industry Score (re-percentiled blend)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33756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quality_components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33375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— {formula_id: pct_value}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63016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valuation_components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63016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92277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momentum_components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92277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21538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score_status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4215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full | partial-cluster-mixed-tiers | partial-meta-cluster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658368"/>
            <a:ext cx="5577840" cy="2432304"/>
          </a:xfrm>
          <a:prstGeom prst="rect">
            <a:avLst>
              <a:gd name="adj" fmla="val 3383"/>
            </a:avLst>
          </a:prstGeom>
          <a:solidFill>
            <a:srgbClr val="F0ECFF"/>
          </a:solidFill>
          <a:ln w="19050">
            <a:solidFill>
              <a:srgbClr val="5B3F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658368"/>
            <a:ext cx="5577840" cy="566928"/>
          </a:xfrm>
          <a:prstGeom prst="rect">
            <a:avLst>
              <a:gd name="adj" fmla="val 14516"/>
            </a:avLst>
          </a:prstGeom>
          <a:solidFill>
            <a:srgbClr val="5B3FA0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731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app.metrics_snapshot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55080" y="98755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DB — local + Neon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12893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symbol, snapshot_date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0" y="12893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DATE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15819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maturity_tier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0" y="15819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0" y="18745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cluster_metrics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0" y="18745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— {formula_id: raw_value_or_null}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21671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market_cap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0" y="21671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0" y="24597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current_price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0" y="24597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00800" y="27523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score_status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0" y="275234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3858768"/>
            <a:ext cx="5577840" cy="2432304"/>
          </a:xfrm>
          <a:prstGeom prst="rect">
            <a:avLst>
              <a:gd name="adj" fmla="val 3383"/>
            </a:avLst>
          </a:prstGeom>
          <a:solidFill>
            <a:srgbClr val="E8F8F7"/>
          </a:solidFill>
          <a:ln w="19050">
            <a:solidFill>
              <a:srgbClr val="1D7A7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3858768"/>
            <a:ext cx="5577840" cy="566928"/>
          </a:xfrm>
          <a:prstGeom prst="rect">
            <a:avLst>
              <a:gd name="adj" fmla="val 14516"/>
            </a:avLst>
          </a:prstGeom>
          <a:solidFill>
            <a:srgbClr val="1D7A73"/>
          </a:solidFill>
          <a:ln/>
        </p:spPr>
      </p:sp>
      <p:sp>
        <p:nvSpPr>
          <p:cNvPr id="51" name="Text 49"/>
          <p:cNvSpPr/>
          <p:nvPr/>
        </p:nvSpPr>
        <p:spPr>
          <a:xfrm>
            <a:off x="502920" y="3931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app.cluster_scorecard_active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2920" y="418795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DB — admin-editable via /admin/scorecards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8640" y="44897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cluster_id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291840" y="44897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PRIMARY KEY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47823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pillar_weights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291840" y="47823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— {"q":50,"v":30,"m":20}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48640" y="50749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291840" y="50749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— {formula_id: weight}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48640" y="53675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valuation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291840" y="53675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8640" y="56601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momentum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291840" y="56601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48640" y="59527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loss_maker_val_fallback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291840" y="595274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JSONB — e.g. [(pb, 1.0)]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217920" y="3858768"/>
            <a:ext cx="5577840" cy="2139696"/>
          </a:xfrm>
          <a:prstGeom prst="rect">
            <a:avLst>
              <a:gd name="adj" fmla="val 3846"/>
            </a:avLst>
          </a:prstGeom>
          <a:solidFill>
            <a:srgbClr val="FEF9E7"/>
          </a:solidFill>
          <a:ln w="19050">
            <a:solidFill>
              <a:srgbClr val="7A602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920" y="3858768"/>
            <a:ext cx="5577840" cy="566928"/>
          </a:xfrm>
          <a:prstGeom prst="rect">
            <a:avLst>
              <a:gd name="adj" fmla="val 14516"/>
            </a:avLst>
          </a:prstGeom>
          <a:solidFill>
            <a:srgbClr val="7A6020"/>
          </a:solidFill>
          <a:ln/>
        </p:spPr>
      </p:sp>
      <p:sp>
        <p:nvSpPr>
          <p:cNvPr id="67" name="Text 65"/>
          <p:cNvSpPr/>
          <p:nvPr/>
        </p:nvSpPr>
        <p:spPr>
          <a:xfrm>
            <a:off x="6355080" y="3931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app.screener_meta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355080" y="418795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DB — updated daily by GitHub Action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400800" y="448970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144000" y="44897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PRIMARY KEY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400800" y="47823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current_price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144000" y="47823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— LTP from NSE bhavcopy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400800" y="50749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market_cap_cr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144000" y="50749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400800" y="536752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face_value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9144000" y="53675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400800" y="56601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no_of_shares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9144000" y="566013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DESIGN · DISPLAY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Bands &amp; Industry Score vs Your Score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Bands (0 – 100)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60704"/>
            <a:ext cx="5303520" cy="859536"/>
          </a:xfrm>
          <a:prstGeom prst="rect">
            <a:avLst>
              <a:gd name="adj" fmla="val 8511"/>
            </a:avLst>
          </a:prstGeom>
          <a:solidFill>
            <a:srgbClr val="2E9A4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80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261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of peers in cluster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5303520" cy="859536"/>
          </a:xfrm>
          <a:prstGeom prst="rect">
            <a:avLst>
              <a:gd name="adj" fmla="val 8511"/>
            </a:avLst>
          </a:prstGeom>
          <a:solidFill>
            <a:srgbClr val="6ABF5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031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60–79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average in peer group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5303520" cy="859536"/>
          </a:xfrm>
          <a:prstGeom prst="rect">
            <a:avLst>
              <a:gd name="adj" fmla="val 8511"/>
            </a:avLst>
          </a:prstGeom>
          <a:solidFill>
            <a:srgbClr val="D9B75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4198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40–59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32369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of the pack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023360"/>
            <a:ext cx="5303520" cy="859536"/>
          </a:xfrm>
          <a:prstGeom prst="rect">
            <a:avLst>
              <a:gd name="adj" fmla="val 8511"/>
            </a:avLst>
          </a:prstGeom>
          <a:solidFill>
            <a:srgbClr val="E0885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782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4074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20–39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42245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average peer ranking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5010912"/>
            <a:ext cx="5303520" cy="859536"/>
          </a:xfrm>
          <a:prstGeom prst="rect">
            <a:avLst>
              <a:gd name="adj" fmla="val 8511"/>
            </a:avLst>
          </a:prstGeom>
          <a:solidFill>
            <a:srgbClr val="C63F2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065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53949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20240" y="52120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20% of peers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658368"/>
            <a:ext cx="0" cy="5779008"/>
          </a:xfrm>
          <a:prstGeom prst="line">
            <a:avLst/>
          </a:prstGeom>
          <a:noFill/>
          <a:ln w="10160">
            <a:solidFill>
              <a:srgbClr val="D6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65836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Score vs Your Score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1024128"/>
            <a:ext cx="1828800" cy="420624"/>
          </a:xfrm>
          <a:prstGeom prst="rect">
            <a:avLst>
              <a:gd name="adj" fmla="val 10870"/>
            </a:avLst>
          </a:prstGeom>
          <a:solidFill>
            <a:srgbClr val="F4F6F8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91856" y="1024128"/>
            <a:ext cx="1920240" cy="420624"/>
          </a:xfrm>
          <a:prstGeom prst="rect">
            <a:avLst>
              <a:gd name="adj" fmla="val 10870"/>
            </a:avLst>
          </a:prstGeom>
          <a:solidFill>
            <a:srgbClr val="EDFAF2"/>
          </a:solidFill>
          <a:ln w="15240">
            <a:solidFill>
              <a:srgbClr val="2E9A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1024128"/>
            <a:ext cx="1920240" cy="420624"/>
          </a:xfrm>
          <a:prstGeom prst="rect">
            <a:avLst>
              <a:gd name="adj" fmla="val 10870"/>
            </a:avLst>
          </a:prstGeom>
          <a:solidFill>
            <a:srgbClr val="EEF2F7"/>
          </a:solidFill>
          <a:ln w="15240">
            <a:solidFill>
              <a:srgbClr val="3D57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0241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91856" y="107899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Score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48672" y="107899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1499616"/>
            <a:ext cx="1828800" cy="822960"/>
          </a:xfrm>
          <a:prstGeom prst="rect">
            <a:avLst>
              <a:gd name="adj" fmla="val 5556"/>
            </a:avLst>
          </a:prstGeom>
          <a:solidFill>
            <a:srgbClr val="F4F6F8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155448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91856" y="1499616"/>
            <a:ext cx="1920240" cy="822960"/>
          </a:xfrm>
          <a:prstGeom prst="rect">
            <a:avLst>
              <a:gd name="adj" fmla="val 5556"/>
            </a:avLst>
          </a:prstGeom>
          <a:solidFill>
            <a:srgbClr val="EDFAF2"/>
          </a:solidFill>
          <a:ln w="10160">
            <a:solidFill>
              <a:srgbClr val="2E9A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83296" y="155448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Cluster-tuned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Banks: Q50/V30/M20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948672" y="1499616"/>
            <a:ext cx="1920240" cy="822960"/>
          </a:xfrm>
          <a:prstGeom prst="rect">
            <a:avLst>
              <a:gd name="adj" fmla="val 5556"/>
            </a:avLst>
          </a:prstGeom>
          <a:solidFill>
            <a:srgbClr val="EEF2F7"/>
          </a:solidFill>
          <a:ln w="10160">
            <a:solidFill>
              <a:srgbClr val="3D577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40112" y="155448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slider setting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Q30/V50/M20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26480" y="2395728"/>
            <a:ext cx="1828800" cy="822960"/>
          </a:xfrm>
          <a:prstGeom prst="rect">
            <a:avLst>
              <a:gd name="adj" fmla="val 5556"/>
            </a:avLst>
          </a:prstGeom>
          <a:solidFill>
            <a:srgbClr val="F4F6F8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450592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Re-percentiled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991856" y="2395728"/>
            <a:ext cx="1920240" cy="822960"/>
          </a:xfrm>
          <a:prstGeom prst="rect">
            <a:avLst>
              <a:gd name="adj" fmla="val 5556"/>
            </a:avLst>
          </a:prstGeom>
          <a:solidFill>
            <a:srgbClr val="EDFAF2"/>
          </a:solidFill>
          <a:ln w="10160">
            <a:solidFill>
              <a:srgbClr val="2E9A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83296" y="245059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re-ranked within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bucket (uniform 0-100)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948672" y="2395728"/>
            <a:ext cx="1920240" cy="822960"/>
          </a:xfrm>
          <a:prstGeom prst="rect">
            <a:avLst>
              <a:gd name="adj" fmla="val 5556"/>
            </a:avLst>
          </a:prstGeom>
          <a:solidFill>
            <a:srgbClr val="EEF2F7"/>
          </a:solidFill>
          <a:ln w="10160">
            <a:solidFill>
              <a:srgbClr val="3D577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0112" y="245059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direct weighted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pillar pcts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26480" y="3291840"/>
            <a:ext cx="1828800" cy="822960"/>
          </a:xfrm>
          <a:prstGeom prst="rect">
            <a:avLst>
              <a:gd name="adj" fmla="val 5556"/>
            </a:avLst>
          </a:prstGeom>
          <a:solidFill>
            <a:srgbClr val="F4F6F8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346704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DB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991856" y="3291840"/>
            <a:ext cx="1920240" cy="822960"/>
          </a:xfrm>
          <a:prstGeom prst="rect">
            <a:avLst>
              <a:gd name="adj" fmla="val 5556"/>
            </a:avLst>
          </a:prstGeom>
          <a:solidFill>
            <a:srgbClr val="EDFAF2"/>
          </a:solidFill>
          <a:ln w="10160">
            <a:solidFill>
              <a:srgbClr val="2E9A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83296" y="334670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composite_pct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app.scores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948672" y="3291840"/>
            <a:ext cx="1920240" cy="822960"/>
          </a:xfrm>
          <a:prstGeom prst="rect">
            <a:avLst>
              <a:gd name="adj" fmla="val 5556"/>
            </a:avLst>
          </a:prstGeom>
          <a:solidFill>
            <a:srgbClr val="EEF2F7"/>
          </a:solidFill>
          <a:ln w="10160">
            <a:solidFill>
              <a:srgbClr val="3D577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40112" y="334670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SQL per-request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stored pillars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126480" y="4187952"/>
            <a:ext cx="1828800" cy="822960"/>
          </a:xfrm>
          <a:prstGeom prst="rect">
            <a:avLst>
              <a:gd name="adj" fmla="val 5556"/>
            </a:avLst>
          </a:prstGeom>
          <a:solidFill>
            <a:srgbClr val="F4F6F8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242816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by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991856" y="4187952"/>
            <a:ext cx="1920240" cy="822960"/>
          </a:xfrm>
          <a:prstGeom prst="rect">
            <a:avLst>
              <a:gd name="adj" fmla="val 5556"/>
            </a:avLst>
          </a:prstGeom>
          <a:solidFill>
            <a:srgbClr val="EDFAF2"/>
          </a:solidFill>
          <a:ln w="10160">
            <a:solidFill>
              <a:srgbClr val="2E9A4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83296" y="424281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scorer.py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(batch, weekly)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948672" y="4187952"/>
            <a:ext cx="1920240" cy="822960"/>
          </a:xfrm>
          <a:prstGeom prst="rect">
            <a:avLst>
              <a:gd name="adj" fmla="val 5556"/>
            </a:avLst>
          </a:prstGeom>
          <a:solidFill>
            <a:srgbClr val="EEF2F7"/>
          </a:solidFill>
          <a:ln w="10160">
            <a:solidFill>
              <a:srgbClr val="3D577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40112" y="424281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at query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(instant)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126480" y="5084064"/>
            <a:ext cx="1828800" cy="822960"/>
          </a:xfrm>
          <a:prstGeom prst="rect">
            <a:avLst>
              <a:gd name="adj" fmla="val 5556"/>
            </a:avLst>
          </a:prstGeom>
          <a:solidFill>
            <a:srgbClr val="F4F6F8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0" y="5138928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991856" y="5084064"/>
            <a:ext cx="1920240" cy="822960"/>
          </a:xfrm>
          <a:prstGeom prst="rect">
            <a:avLst>
              <a:gd name="adj" fmla="val 5556"/>
            </a:avLst>
          </a:prstGeom>
          <a:solidFill>
            <a:srgbClr val="EDFAF2"/>
          </a:solidFill>
          <a:ln w="10160">
            <a:solidFill>
              <a:srgbClr val="2E9A4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83296" y="513892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consensus: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in cluster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948672" y="5084064"/>
            <a:ext cx="1920240" cy="822960"/>
          </a:xfrm>
          <a:prstGeom prst="rect">
            <a:avLst>
              <a:gd name="adj" fmla="val 5556"/>
            </a:avLst>
          </a:prstGeom>
          <a:solidFill>
            <a:srgbClr val="EEF2F7"/>
          </a:solidFill>
          <a:ln w="10160">
            <a:solidFill>
              <a:srgbClr val="3D577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040112" y="513892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on what you value?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EVERY HOP IN THE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11823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Reference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2011680" cy="256032"/>
          </a:xfrm>
          <a:prstGeom prst="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922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2194560" cy="384048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94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658368"/>
            <a:ext cx="2194560" cy="384048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694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658368"/>
            <a:ext cx="2377440" cy="384048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69494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658368"/>
            <a:ext cx="2651760" cy="384048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6949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49840" y="658368"/>
            <a:ext cx="1828800" cy="384048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0" y="69494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097280"/>
            <a:ext cx="21945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1704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Screener.in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1097280"/>
            <a:ext cx="21945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1704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app DB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097280"/>
            <a:ext cx="237744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17043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+ quarterly financials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06640" y="1097280"/>
            <a:ext cx="26517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17043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httpx · xlsx parse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149840" y="1097280"/>
            <a:ext cx="182880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0" y="11704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manual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1773936"/>
            <a:ext cx="219456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18470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6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NSE Bhavcopy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1773936"/>
            <a:ext cx="219456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184708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6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 app DB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1773936"/>
            <a:ext cx="237744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184708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LTP per symbol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06640" y="1773936"/>
            <a:ext cx="265176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8470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 refresh-ltp.yml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149840" y="1773936"/>
            <a:ext cx="182880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0" y="184708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18:30 IST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2450592"/>
            <a:ext cx="21945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52374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app DB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651760" y="2450592"/>
            <a:ext cx="21945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252374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golden DB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2450592"/>
            <a:ext cx="237744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52374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signals · 200 EMA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06640" y="2450592"/>
            <a:ext cx="26517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252374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by signals script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149840" y="2450592"/>
            <a:ext cx="182880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0" y="25237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manual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3127248"/>
            <a:ext cx="219456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2004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7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app DB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651760" y="3127248"/>
            <a:ext cx="219456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0" y="32004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7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 (app)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37760" y="3127248"/>
            <a:ext cx="237744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320040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+ meta — Nifty 200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406640" y="3127248"/>
            <a:ext cx="265176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0" y="32004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sync-neon.sh  (psql COPY)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149840" y="3127248"/>
            <a:ext cx="182880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241280" y="32004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ETL run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65760" y="3803904"/>
            <a:ext cx="21945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387705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7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golden DB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651760" y="3803904"/>
            <a:ext cx="21945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0" y="387705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7A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 (golden)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937760" y="3803904"/>
            <a:ext cx="237744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387705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— Nifty 200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406640" y="3803904"/>
            <a:ext cx="26517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0" y="38770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sync-neon.sh  (psql COPY)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149840" y="3803904"/>
            <a:ext cx="182880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41280" y="3877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ETL run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65760" y="4480560"/>
            <a:ext cx="219456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5537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Neon cloud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651760" y="4480560"/>
            <a:ext cx="219456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43200" y="45537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server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937760" y="4480560"/>
            <a:ext cx="237744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455371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· prices · fundamentals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06640" y="4480560"/>
            <a:ext cx="265176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0" y="45537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postgres.js over TLS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10149840" y="4480560"/>
            <a:ext cx="1828800" cy="621792"/>
          </a:xfrm>
          <a:prstGeom prst="rect">
            <a:avLst/>
          </a:prstGeom>
          <a:solidFill>
            <a:srgbClr val="F1F3F6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241280" y="45537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page request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65760" y="5157216"/>
            <a:ext cx="21945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52303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server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651760" y="5157216"/>
            <a:ext cx="21945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0" y="523036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937760" y="5157216"/>
            <a:ext cx="237744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0" y="52303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hydration data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406640" y="5157216"/>
            <a:ext cx="265176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98080" y="523036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CDN · revalidate cache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10149840" y="5157216"/>
            <a:ext cx="1828800" cy="621792"/>
          </a:xfrm>
          <a:prstGeom prst="rect">
            <a:avLst/>
          </a:prstGeom>
          <a:solidFill>
            <a:srgbClr val="FBFBFD"/>
          </a:solidFill>
          <a:ln w="6350">
            <a:solidFill>
              <a:srgbClr val="D6DEE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241280" y="52303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per route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365760" y="6035040"/>
            <a:ext cx="11457432" cy="475488"/>
          </a:xfrm>
          <a:prstGeom prst="rect">
            <a:avLst>
              <a:gd name="adj" fmla="val 13462"/>
            </a:avLst>
          </a:prstGeom>
          <a:solidFill>
            <a:srgbClr val="EEF2F7"/>
          </a:solidFill>
          <a:ln w="10160">
            <a:solidFill>
              <a:srgbClr val="D6DEE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640" y="6080760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Full ETL (./fetch) is weekly manual (~60 min for 2,150 stocks). Current prices (LTP) refresh automatically daily via GitHub Action. Historical scores do not update between ETL runs.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7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D577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commands · reference documents · key 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10698480" cy="402336"/>
          </a:xfrm>
          <a:prstGeom prst="rect">
            <a:avLst>
              <a:gd name="adj" fmla="val 13636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BF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./fetch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199339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Full universe ETL  (~60 min, 2150 stocks, 1 req/s)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14016"/>
            <a:ext cx="10698480" cy="402336"/>
          </a:xfrm>
          <a:prstGeom prst="rect">
            <a:avLst>
              <a:gd name="adj" fmla="val 13636"/>
            </a:avLst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BF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./fetch --limit 100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24688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Smoke test — first 100 stocks from queue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889504"/>
            <a:ext cx="10698480" cy="402336"/>
          </a:xfrm>
          <a:prstGeom prst="rect">
            <a:avLst>
              <a:gd name="adj" fmla="val 13636"/>
            </a:avLst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44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BF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./fetch --only TCS,INFY,HDFC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9443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Specific symbols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364992"/>
            <a:ext cx="10698480" cy="402336"/>
          </a:xfrm>
          <a:prstGeom prst="rect">
            <a:avLst>
              <a:gd name="adj" fmla="val 13636"/>
            </a:avLst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198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BF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./snap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41985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Score latest metrics snapshot  (~2 min)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10698480" cy="402336"/>
          </a:xfrm>
          <a:prstGeom prst="rect">
            <a:avLst>
              <a:gd name="adj" fmla="val 13636"/>
            </a:avLst>
          </a:pr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8953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BF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scripts/sync-neon.sh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89534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Sync Nifty 200 subset to Neon production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4074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Documents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736592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docs/SCORING_DESIGN.md                — full logic · formulas · DB tables · trade-offs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084064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docs/SCORECARDS_BY_INDUSTRY.md        — all 42 cluster scorecards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431536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etl/src/fundamental_etl/scoring/      — scorer.py · formulas.py · metrics.py · scorecards.py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77900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web/src/app/discover/                 — Controls.tsx · types.ts · page.tsx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6473952"/>
            <a:ext cx="11823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D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EquityRoots NSE  ·  Internal Reference  ·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EquityRoots — Architecture &amp; Scoring Design</dc:title>
  <dc:subject>PptxGenJS Presentation</dc:subject>
  <dc:creator>EquityRoots NSE</dc:creator>
  <cp:lastModifiedBy>EquityRoots NSE</cp:lastModifiedBy>
  <cp:revision>1</cp:revision>
  <dcterms:created xsi:type="dcterms:W3CDTF">2026-05-16T08:09:36Z</dcterms:created>
  <dcterms:modified xsi:type="dcterms:W3CDTF">2026-05-16T08:09:36Z</dcterms:modified>
</cp:coreProperties>
</file>