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A93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NSE INDIA · STATUS REPORT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EquityRoots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fundamentals, made easy — with a sharper view.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8048" y="4846320"/>
            <a:ext cx="3200400" cy="18288"/>
          </a:xfrm>
          <a:prstGeom prst="rect">
            <a:avLst/>
          </a:prstGeom>
          <a:solidFill>
            <a:srgbClr val="8A93A3"/>
          </a:solidFill>
          <a:ln/>
        </p:spPr>
      </p:sp>
      <p:sp>
        <p:nvSpPr>
          <p:cNvPr id="6" name="Text 4"/>
          <p:cNvSpPr/>
          <p:nvPr/>
        </p:nvSpPr>
        <p:spPr>
          <a:xfrm>
            <a:off x="838048" y="4937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2,151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38048" y="5943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400" kern="0" dirty="0">
                <a:solidFill>
                  <a:srgbClr val="8A93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NSE STOCKS SCORED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95648" y="4846320"/>
            <a:ext cx="3200400" cy="18288"/>
          </a:xfrm>
          <a:prstGeom prst="rect">
            <a:avLst/>
          </a:prstGeom>
          <a:solidFill>
            <a:srgbClr val="8A93A3"/>
          </a:solidFill>
          <a:ln/>
        </p:spPr>
      </p:sp>
      <p:sp>
        <p:nvSpPr>
          <p:cNvPr id="9" name="Text 7"/>
          <p:cNvSpPr/>
          <p:nvPr/>
        </p:nvSpPr>
        <p:spPr>
          <a:xfrm>
            <a:off x="4495648" y="4937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495648" y="5943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400" kern="0" dirty="0">
                <a:solidFill>
                  <a:srgbClr val="8A93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PEER-RELATIVE RATIOS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53248" y="4846320"/>
            <a:ext cx="3200400" cy="18288"/>
          </a:xfrm>
          <a:prstGeom prst="rect">
            <a:avLst/>
          </a:prstGeom>
          <a:solidFill>
            <a:srgbClr val="8A93A3"/>
          </a:solidFill>
          <a:ln/>
        </p:spPr>
      </p:sp>
      <p:sp>
        <p:nvSpPr>
          <p:cNvPr id="12" name="Text 10"/>
          <p:cNvSpPr/>
          <p:nvPr/>
        </p:nvSpPr>
        <p:spPr>
          <a:xfrm>
            <a:off x="8153248" y="4937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8153248" y="5943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400" kern="0" dirty="0">
                <a:solidFill>
                  <a:srgbClr val="8A93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INDUSTRY SCORECARDS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May 2026 · main @ a5953fa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60-SECOND PITCH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D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Stocks scored against their real peers.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6583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 screeners use </a:t>
            </a:r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formula for every company. Banks judged on cement metrics, IT firms judged on bank metrics. 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That's broken.</a:t>
            </a:r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EquityRoots splits the NSE universe into 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42 industry clusters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each with its own scorecard tuned to what matters in that industry. Every Friday we run all 2,151 stocks through the right scorecard and save the scores into an 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append-only archive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3D577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Bloomberg has more data. We have a sharper view of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0" y="2194560"/>
            <a:ext cx="3840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0" y="2194560"/>
            <a:ext cx="73152" cy="1097280"/>
          </a:xfrm>
          <a:prstGeom prst="rect">
            <a:avLst/>
          </a:prstGeom>
          <a:solidFill>
            <a:srgbClr val="3D5778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0" y="235915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3D57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73252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732520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Profitability · Growth · Cash quality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3520440"/>
            <a:ext cx="3840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0" y="3520440"/>
            <a:ext cx="73152" cy="1097280"/>
          </a:xfrm>
          <a:prstGeom prst="rect">
            <a:avLst/>
          </a:prstGeom>
          <a:solidFill>
            <a:srgbClr val="3D5778"/>
          </a:solidFill>
          <a:ln/>
        </p:spPr>
      </p:sp>
      <p:sp>
        <p:nvSpPr>
          <p:cNvPr id="12" name="Text 10"/>
          <p:cNvSpPr/>
          <p:nvPr/>
        </p:nvSpPr>
        <p:spPr>
          <a:xfrm>
            <a:off x="8001000" y="36850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3D57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8732520" y="3794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VALUATION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3252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P/E · P/B · EV/EBITDA · Yield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0" y="4846320"/>
            <a:ext cx="3840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0" y="4846320"/>
            <a:ext cx="73152" cy="1097280"/>
          </a:xfrm>
          <a:prstGeom prst="rect">
            <a:avLst/>
          </a:prstGeom>
          <a:solidFill>
            <a:srgbClr val="3D5778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501091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3D57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8732520" y="5120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MOMENTUM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32520" y="5440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Relative returns · Earnings surprise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73449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SURFACES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D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pages, one engine.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448" y="201168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22402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6688" y="22128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24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8048" y="2788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Hero · heatmap · pitch · CTA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98368" y="201168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968" y="22402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75608" y="22128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24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/sectors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26968" y="2788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sectors · 42 industries · cluster tiles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87288" y="201168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888" y="22402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64528" y="22128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24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/stock/[symbol]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15888" y="2788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Latest Result · About · Strengths · Numbers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976208" y="201168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8" y="224028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753448" y="22128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24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/discover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204808" y="2788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Filter universe · re-weight to 'Your Score'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09448" y="374904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48" y="397764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86688" y="39502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24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/ideas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838048" y="45262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Curated weekly buckets · trend + themed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3398368" y="374904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6968" y="397764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175608" y="39502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24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/feed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3626968" y="45262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Score-movers since last snapshot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187288" y="374904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5888" y="3977640"/>
            <a:ext cx="411480" cy="4114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964528" y="39502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24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/glossary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6415888" y="45262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52 ratios · worked examples · animated gauge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8976208" y="374904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4808" y="3977640"/>
            <a:ext cx="411480" cy="41148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753448" y="39502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24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/compare</a:t>
            </a:r>
            <a:endParaRPr lang="en-US" sz="1600" dirty="0"/>
          </a:p>
        </p:txBody>
      </p:sp>
      <p:sp>
        <p:nvSpPr>
          <p:cNvPr id="35" name="Text 25"/>
          <p:cNvSpPr/>
          <p:nvPr/>
        </p:nvSpPr>
        <p:spPr>
          <a:xfrm>
            <a:off x="9204808" y="45262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Side-by-side peer comparison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1173449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SCORING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D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Industry-specific, peer-relative.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80848" y="2194560"/>
            <a:ext cx="3566160" cy="2194560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80848" y="2194560"/>
            <a:ext cx="3566160" cy="45720"/>
          </a:xfrm>
          <a:prstGeom prst="rect">
            <a:avLst/>
          </a:prstGeom>
          <a:solidFill>
            <a:srgbClr val="3D5778"/>
          </a:solidFill>
          <a:ln/>
        </p:spPr>
      </p:sp>
      <p:sp>
        <p:nvSpPr>
          <p:cNvPr id="6" name="Text 4"/>
          <p:cNvSpPr/>
          <p:nvPr/>
        </p:nvSpPr>
        <p:spPr>
          <a:xfrm>
            <a:off x="380848" y="23774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dirty="0">
                <a:solidFill>
                  <a:srgbClr val="1D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563728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Distinct ratios in active scorecards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3728" y="3886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Quality 22 · Valuation 7 · Momentum 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2768" y="2194560"/>
            <a:ext cx="3566160" cy="2194560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4312768" y="2194560"/>
            <a:ext cx="3566160" cy="45720"/>
          </a:xfrm>
          <a:prstGeom prst="rect">
            <a:avLst/>
          </a:prstGeom>
          <a:solidFill>
            <a:srgbClr val="3D5778"/>
          </a:solidFill>
          <a:ln/>
        </p:spPr>
      </p:sp>
      <p:sp>
        <p:nvSpPr>
          <p:cNvPr id="11" name="Text 9"/>
          <p:cNvSpPr/>
          <p:nvPr/>
        </p:nvSpPr>
        <p:spPr>
          <a:xfrm>
            <a:off x="4312768" y="23774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dirty="0">
                <a:solidFill>
                  <a:srgbClr val="1D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8800" dirty="0"/>
          </a:p>
        </p:txBody>
      </p:sp>
      <p:sp>
        <p:nvSpPr>
          <p:cNvPr id="12" name="Text 10"/>
          <p:cNvSpPr/>
          <p:nvPr/>
        </p:nvSpPr>
        <p:spPr>
          <a:xfrm>
            <a:off x="4495648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Industry scorecards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95648" y="3886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Banks vs IT use almost-disjoint metrics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44688" y="2194560"/>
            <a:ext cx="3566160" cy="2194560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244688" y="2194560"/>
            <a:ext cx="3566160" cy="45720"/>
          </a:xfrm>
          <a:prstGeom prst="rect">
            <a:avLst/>
          </a:prstGeom>
          <a:solidFill>
            <a:srgbClr val="3D5778"/>
          </a:solidFill>
          <a:ln/>
        </p:spPr>
      </p:sp>
      <p:sp>
        <p:nvSpPr>
          <p:cNvPr id="16" name="Text 14"/>
          <p:cNvSpPr/>
          <p:nvPr/>
        </p:nvSpPr>
        <p:spPr>
          <a:xfrm>
            <a:off x="8244688" y="23774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dirty="0">
                <a:solidFill>
                  <a:srgbClr val="1D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8800" dirty="0"/>
          </a:p>
        </p:txBody>
      </p:sp>
      <p:sp>
        <p:nvSpPr>
          <p:cNvPr id="17" name="Text 15"/>
          <p:cNvSpPr/>
          <p:nvPr/>
        </p:nvSpPr>
        <p:spPr>
          <a:xfrm>
            <a:off x="8427568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Weekly snapshots in the archive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27568" y="3886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Append-only · grows ~5 MB / week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D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DB. Different scorecards. Different metrics.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5394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257800"/>
            <a:ext cx="73152" cy="1280160"/>
          </a:xfrm>
          <a:prstGeom prst="rect">
            <a:avLst/>
          </a:prstGeom>
          <a:solidFill>
            <a:srgbClr val="2E9A4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394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PRIVATE BANKS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5760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Top-3 Quality: roa_3y(25) · roe_3y(18) · book_value_cagr_5y(18)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6126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Top-2 Valuation: pb(50) · pe_ttm(25)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5257800"/>
            <a:ext cx="5394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5257800"/>
            <a:ext cx="73152" cy="1280160"/>
          </a:xfrm>
          <a:prstGeom prst="rect">
            <a:avLst/>
          </a:prstGeom>
          <a:solidFill>
            <a:srgbClr val="2E9A4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5394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SERVICES (LARGE)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5760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Top-3 Quality: op_margin_3y(22) · roce_3y(18) · cfo_ebitda_3y(14)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6126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Top-2 Valuation: pe_ttm(35) · peg(25)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73449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MOATS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D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competitor can't copy us in a weekend.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rgbClr val="1D324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2677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SCORE ARCHIVE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2606040"/>
            <a:ext cx="9814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weekly score saved into an append-only ledger. Restated financials, point-in-time peer medians, and the exact scorecard at that moment — all preserved. A competitor launching in 2027 starts with zero history.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319272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502152"/>
            <a:ext cx="685800" cy="685800"/>
          </a:xfrm>
          <a:prstGeom prst="ellipse">
            <a:avLst/>
          </a:prstGeom>
          <a:solidFill>
            <a:srgbClr val="1D324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47872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34838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CLUSTER SCORECARDS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3822192"/>
            <a:ext cx="9814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42 industry-specific scoring recipes, not one universal formula. Tunable by admin (the per-cluster weights aren't public). HDFC Bank judged on banking metrics; TCS judged on IT metrics; cement judged on cement metrics.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535424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18304"/>
            <a:ext cx="685800" cy="685800"/>
          </a:xfrm>
          <a:prstGeom prst="ellipse">
            <a:avLst/>
          </a:prstGeom>
          <a:solidFill>
            <a:srgbClr val="1D3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4024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47000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PLAIN-ENGLISH NARRATIVES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5038344"/>
            <a:ext cx="9814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Numbers describe; sentences explain. LLM-generated stock narratives grounded in the score row — with a validator that flags any factual claim the underlying data doesn't support.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751576"/>
            <a:ext cx="1091153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934456"/>
            <a:ext cx="685800" cy="685800"/>
          </a:xfrm>
          <a:prstGeom prst="ellipse">
            <a:avLst/>
          </a:prstGeom>
          <a:solidFill>
            <a:srgbClr val="1D324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98017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5916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COMMUNITY SIGNALS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91640" y="6254496"/>
            <a:ext cx="9814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Reserved layer. Watchlists, alerts, 'disagreement' comments. Each user makes the platform slightly more useful for the next. Slowest to build, hardest to dislodge once built.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73449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SHIPPED THIS SESSION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commits, 2 days, end-to-end polish.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89408" y="2103120"/>
            <a:ext cx="37490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9408" y="2103120"/>
            <a:ext cx="3749040" cy="64008"/>
          </a:xfrm>
          <a:prstGeom prst="rect">
            <a:avLst/>
          </a:prstGeom>
          <a:solidFill>
            <a:srgbClr val="3D5778"/>
          </a:solidFill>
          <a:ln/>
        </p:spPr>
      </p:sp>
      <p:sp>
        <p:nvSpPr>
          <p:cNvPr id="6" name="Text 4"/>
          <p:cNvSpPr/>
          <p:nvPr/>
        </p:nvSpPr>
        <p:spPr>
          <a:xfrm>
            <a:off x="563728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3728" y="288036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Bloomberg-light pass — snapshot ribbon, pearl paper, IBM Plex Mono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Numbers tab: cells colored green/red by period-over-period direction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Glossary amplified — 52 entries with animated gauge + worked examples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Composite → Industry Score · Custom → Your Score · inline taglines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21328" y="2103120"/>
            <a:ext cx="37490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1328" y="2103120"/>
            <a:ext cx="3749040" cy="64008"/>
          </a:xfrm>
          <a:prstGeom prst="rect">
            <a:avLst/>
          </a:prstGeom>
          <a:solidFill>
            <a:srgbClr val="2E9A47"/>
          </a:solidFill>
          <a:ln/>
        </p:spPr>
      </p:sp>
      <p:sp>
        <p:nvSpPr>
          <p:cNvPr id="10" name="Text 8"/>
          <p:cNvSpPr/>
          <p:nvPr/>
        </p:nvSpPr>
        <p:spPr>
          <a:xfrm>
            <a:off x="4495648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STOCK PAGE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95648" y="288036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Latest Result tab — 4 quarter tiles + 4 TTM ratios in two crisp boxes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Result-flash chip beside company name (green pulse ≤45 days)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Rename routes: /clusters → /sectors, /cluster → /industry, with 301s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Auto-interpretation line under headline numbers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3248" y="2103120"/>
            <a:ext cx="37490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3248" y="2103120"/>
            <a:ext cx="3749040" cy="64008"/>
          </a:xfrm>
          <a:prstGeom prst="rect">
            <a:avLst/>
          </a:prstGeom>
          <a:solidFill>
            <a:srgbClr val="D9B755"/>
          </a:solidFill>
          <a:ln/>
        </p:spPr>
      </p:sp>
      <p:sp>
        <p:nvSpPr>
          <p:cNvPr id="14" name="Text 12"/>
          <p:cNvSpPr/>
          <p:nvPr/>
        </p:nvSpPr>
        <p:spPr>
          <a:xfrm>
            <a:off x="8427568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&amp; OPS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27568" y="288036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Daily LTP refresh via NSE bhavcopy + GitHub Action (18:30 IST)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ETL fetch: concurrency, 429 auto-retry, browser-like UA, status logging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./scorecards alias — regenerates per-industry reference doc on demand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3-point not-advisory disclaimer (ribbon + footer + score badge)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73449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D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scrape to served, in four stages.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2560" y="219456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5712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E2E5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880" y="25146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688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24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./fetch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3688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E9A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weekend, manual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36880" y="3977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Scrape Screener.in for fresh fundamentals · 2,151 stocks · ~30 min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114904" y="34747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57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270352" y="219456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64912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E2E5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672" y="25146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4672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24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./snap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544672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E9A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after ./fetch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44672" y="3977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Recompute metrics + score every stock against its cluster scorecard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022696" y="34747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57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178144" y="219456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372704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E2E5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464" y="251460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52464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24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sync-neon.sh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452464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E9A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after ./snap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452464" y="3977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Push Nifty 200 rows from local Postgres → Neon (production DB)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930488" y="34747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57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9085936" y="219456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11280496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E2E5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0256" y="2514600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60256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24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refresh-ltp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9360256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2E9A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 · daily 18:30 IST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9360256" y="3977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 Action · NSE bhavcopy · updates current_price on Neon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40080" y="5486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WEEKEND RITUAL (LOCAL)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640080" y="5806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24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./fetch     →     ./snap     →     ./scripts/sync-neon.sh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1173449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STATE OF PLAY — 16 MAY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D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platform is, today.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5148" y="2103120"/>
            <a:ext cx="3611880" cy="1691640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5" name="Text 3"/>
          <p:cNvSpPr/>
          <p:nvPr/>
        </p:nvSpPr>
        <p:spPr>
          <a:xfrm>
            <a:off x="769468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D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2,151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69468" y="32461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Stocks scored in local DB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89908" y="2103120"/>
            <a:ext cx="3611880" cy="1691640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8" name="Text 6"/>
          <p:cNvSpPr/>
          <p:nvPr/>
        </p:nvSpPr>
        <p:spPr>
          <a:xfrm>
            <a:off x="4564228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D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64228" y="32461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Stocks live on Neon (production)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84668" y="2103120"/>
            <a:ext cx="3611880" cy="1691640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11" name="Text 9"/>
          <p:cNvSpPr/>
          <p:nvPr/>
        </p:nvSpPr>
        <p:spPr>
          <a:xfrm>
            <a:off x="8358988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D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8358988" y="32461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Weekly snapshots in the archive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5148" y="4023360"/>
            <a:ext cx="3611880" cy="1691640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769468" y="42062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D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769468" y="5166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Glossary ratios · all with examples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89908" y="4023360"/>
            <a:ext cx="3611880" cy="1691640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4564228" y="42062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2E9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4564228" y="5166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Visitors so far (Vercel Analytics)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84668" y="4023360"/>
            <a:ext cx="3611880" cy="1691640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8358988" y="42062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2E9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8358988" y="5166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Page views · ~3.5 per visitor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D57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thinking, not trading.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3449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D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roadmap, in priority order.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1153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73152" cy="868680"/>
          </a:xfrm>
          <a:prstGeom prst="rect">
            <a:avLst/>
          </a:prstGeom>
          <a:solidFill>
            <a:srgbClr val="2E9A4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9A4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06040" y="2240280"/>
            <a:ext cx="8808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Mobile audit · share with 3–5 trusted users · watch Vercel Analytics for what gets clicked and what gets ignored. We have product polish; we need feedback.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44952"/>
            <a:ext cx="1091153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044952"/>
            <a:ext cx="73152" cy="868680"/>
          </a:xfrm>
          <a:prstGeom prst="rect">
            <a:avLst/>
          </a:prstGeom>
          <a:solidFill>
            <a:srgbClr val="3D577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821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D577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RETENTION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5021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1–2 weeks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06040" y="3182112"/>
            <a:ext cx="8808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CSV export on /discover (power-user win, half a day). Then: watchlist (needs auth · Neon Auth) and weekly email digest — the killer return-loop.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1091153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986784"/>
            <a:ext cx="73152" cy="868680"/>
          </a:xfrm>
          <a:prstGeom prst="rect">
            <a:avLst/>
          </a:prstGeom>
          <a:solidFill>
            <a:srgbClr val="D9B75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2394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B7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HARDENING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44398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hour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06040" y="4123944"/>
            <a:ext cx="8808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Sentry for error tracking (free 5K/mo) · run the backup-neon script · custom domain at Cloudflare (~₹800/yr). Lights up real-user bugs before users complain.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928616"/>
            <a:ext cx="1091153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928616"/>
            <a:ext cx="73152" cy="868680"/>
          </a:xfrm>
          <a:prstGeom prst="rect">
            <a:avLst/>
          </a:prstGeom>
          <a:solidFill>
            <a:srgbClr val="55709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0657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570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BACKTEST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53858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8–12 weeks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06040" y="5065776"/>
            <a:ext cx="8808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“This stock's score 6 months ago was X; here's what happened.” The receipts moat made visible. Blocked on archive depth — need ~3 months of snapshots first.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70448"/>
            <a:ext cx="1091153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5870448"/>
            <a:ext cx="73152" cy="868680"/>
          </a:xfrm>
          <a:prstGeom prst="rect">
            <a:avLst/>
          </a:prstGeom>
          <a:solidFill>
            <a:srgbClr val="5B6470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6007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B647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63276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When users ask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606040" y="6007608"/>
            <a:ext cx="8808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32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Nifty 500 (still fits Neon Free at ~200 MB). Full NSE 1,800 needs Neon Launch ($20/mo). No rush — Nifty 200 is enough universe for now.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734495" y="6492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"Bloomberg has more data.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6060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i="1" dirty="0">
                <a:solidFill>
                  <a:srgbClr val="D9B7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have a sharper view of it."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8A93A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MOAT.MD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852160"/>
            <a:ext cx="12191695" cy="36576"/>
          </a:xfrm>
          <a:prstGeom prst="rect">
            <a:avLst/>
          </a:prstGeom>
          <a:solidFill>
            <a:srgbClr val="8A93A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6126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github.com/vedarthain/Fundamental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05295" y="6126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8A93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thinking, not trading.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EquityRoots NSE — Status &amp; Roadmap</dc:title>
  <dc:subject>PptxGenJS Presentation</dc:subject>
  <dc:creator>EquityRoots</dc:creator>
  <cp:lastModifiedBy>EquityRoots</cp:lastModifiedBy>
  <cp:revision>1</cp:revision>
  <dcterms:created xsi:type="dcterms:W3CDTF">2026-05-15T21:03:20Z</dcterms:created>
  <dcterms:modified xsi:type="dcterms:W3CDTF">2026-05-15T21:03:20Z</dcterms:modified>
</cp:coreProperties>
</file>